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4"/>
  </p:notesMasterIdLst>
  <p:sldIdLst>
    <p:sldId id="585" r:id="rId2"/>
    <p:sldId id="624" r:id="rId3"/>
    <p:sldId id="625" r:id="rId4"/>
    <p:sldId id="626" r:id="rId5"/>
    <p:sldId id="627" r:id="rId6"/>
    <p:sldId id="628" r:id="rId7"/>
    <p:sldId id="629" r:id="rId8"/>
    <p:sldId id="630" r:id="rId9"/>
    <p:sldId id="631" r:id="rId10"/>
    <p:sldId id="633" r:id="rId11"/>
    <p:sldId id="632" r:id="rId12"/>
    <p:sldId id="634" r:id="rId13"/>
    <p:sldId id="636" r:id="rId14"/>
    <p:sldId id="635" r:id="rId15"/>
    <p:sldId id="637" r:id="rId16"/>
    <p:sldId id="638" r:id="rId17"/>
    <p:sldId id="639" r:id="rId18"/>
    <p:sldId id="640" r:id="rId19"/>
    <p:sldId id="641" r:id="rId20"/>
    <p:sldId id="642" r:id="rId21"/>
    <p:sldId id="643" r:id="rId22"/>
    <p:sldId id="644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 autoAdjust="0"/>
    <p:restoredTop sz="93917" autoAdjust="0"/>
  </p:normalViewPr>
  <p:slideViewPr>
    <p:cSldViewPr>
      <p:cViewPr varScale="1">
        <p:scale>
          <a:sx n="69" d="100"/>
          <a:sy n="69" d="100"/>
        </p:scale>
        <p:origin x="48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7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21336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PRIMALITY TESTING </a:t>
            </a:r>
            <a:br>
              <a:rPr lang="en-US" sz="2800" dirty="0">
                <a:solidFill>
                  <a:srgbClr val="C00000"/>
                </a:solidFill>
              </a:rPr>
            </a:br>
            <a:r>
              <a:rPr lang="en-US" sz="2800" dirty="0">
                <a:solidFill>
                  <a:srgbClr val="C00000"/>
                </a:solidFill>
              </a:rPr>
              <a:t>		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33400" y="2761350"/>
            <a:ext cx="7772400" cy="1500187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Application</a:t>
            </a:r>
          </a:p>
          <a:p>
            <a:pPr algn="ctr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RSA Cryptosystem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9C9B56AB-FD07-722E-9842-41FA1EF42C0A}"/>
              </a:ext>
            </a:extLst>
          </p:cNvPr>
          <p:cNvSpPr txBox="1">
            <a:spLocks/>
          </p:cNvSpPr>
          <p:nvPr/>
        </p:nvSpPr>
        <p:spPr>
          <a:xfrm>
            <a:off x="5334000" y="5027401"/>
            <a:ext cx="4114800" cy="16940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by: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Prerak Agarwal (220818)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Suryansh Goel (221111)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Raghav Madan (220853)</a:t>
            </a:r>
          </a:p>
          <a:p>
            <a:pPr marL="457200" lvl="1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202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8CFE1F-FC7A-B09C-ED15-BB0E74FF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268F98FE-F492-77D8-BCEE-EE48933CE9C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/>
              <a:t>A</a:t>
            </a:r>
            <a:r>
              <a:rPr lang="en-US" sz="3200" b="1" dirty="0">
                <a:solidFill>
                  <a:srgbClr val="7030A0"/>
                </a:solidFill>
              </a:rPr>
              <a:t> motivating example </a:t>
            </a:r>
            <a:r>
              <a:rPr lang="en-US" sz="3200" b="1" dirty="0"/>
              <a:t>from real world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IN" sz="3200" b="1" dirty="0">
              <a:solidFill>
                <a:srgbClr val="7030A0"/>
              </a:solidFill>
            </a:endParaRPr>
          </a:p>
        </p:txBody>
      </p: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B2C13981-B21B-6998-6C0C-5FE31954544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8DF18CA-5F9E-EC68-34AF-19DAE5AB32FD}"/>
              </a:ext>
            </a:extLst>
          </p:cNvPr>
          <p:cNvSpPr txBox="1"/>
          <p:nvPr/>
        </p:nvSpPr>
        <p:spPr>
          <a:xfrm>
            <a:off x="681435" y="4114800"/>
            <a:ext cx="176990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Enter credentials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032E8E7-DEFD-E31A-8352-C02053593F9E}"/>
              </a:ext>
            </a:extLst>
          </p:cNvPr>
          <p:cNvCxnSpPr/>
          <p:nvPr/>
        </p:nvCxnSpPr>
        <p:spPr>
          <a:xfrm flipV="1">
            <a:off x="1447800" y="33528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A3AA19A-CEE4-0EB5-A752-6C81503F50A1}"/>
              </a:ext>
            </a:extLst>
          </p:cNvPr>
          <p:cNvCxnSpPr/>
          <p:nvPr/>
        </p:nvCxnSpPr>
        <p:spPr>
          <a:xfrm>
            <a:off x="2362200" y="2438400"/>
            <a:ext cx="3505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loud">
            <a:extLst>
              <a:ext uri="{FF2B5EF4-FFF2-40B4-BE49-F238E27FC236}">
                <a16:creationId xmlns:a16="http://schemas.microsoft.com/office/drawing/2014/main" id="{BD79639A-B1CC-853F-7B61-752A545AE27D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3009900" y="1720866"/>
            <a:ext cx="2209800" cy="148087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  Internet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6A82C36-5682-14E4-C68D-49A063AE53DF}"/>
              </a:ext>
            </a:extLst>
          </p:cNvPr>
          <p:cNvSpPr txBox="1"/>
          <p:nvPr/>
        </p:nvSpPr>
        <p:spPr>
          <a:xfrm>
            <a:off x="5638800" y="4123944"/>
            <a:ext cx="27432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Verify Credentials</a:t>
            </a:r>
          </a:p>
          <a:p>
            <a:pPr algn="ctr"/>
            <a:r>
              <a:rPr lang="en-US" dirty="0"/>
              <a:t>     and </a:t>
            </a:r>
          </a:p>
          <a:p>
            <a:pPr algn="ctr"/>
            <a:r>
              <a:rPr lang="en-US" dirty="0"/>
              <a:t>proceed with transaction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DCAF88-9CC0-C054-B23F-D3D6C573A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11767"/>
            <a:ext cx="2133600" cy="178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921D780-C941-F644-B835-FC566F565D40}"/>
              </a:ext>
            </a:extLst>
          </p:cNvPr>
          <p:cNvCxnSpPr>
            <a:stCxn id="1030" idx="2"/>
          </p:cNvCxnSpPr>
          <p:nvPr/>
        </p:nvCxnSpPr>
        <p:spPr>
          <a:xfrm>
            <a:off x="6934200" y="3294528"/>
            <a:ext cx="0" cy="74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729A197-B6F4-A14C-1FFC-13DC8382B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727826"/>
            <a:ext cx="1295400" cy="1097549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7595D1AC-6521-2D5C-C030-84C2C8CEA20D}"/>
              </a:ext>
            </a:extLst>
          </p:cNvPr>
          <p:cNvSpPr txBox="1"/>
          <p:nvPr/>
        </p:nvSpPr>
        <p:spPr>
          <a:xfrm>
            <a:off x="1998595" y="5583539"/>
            <a:ext cx="4384809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need a cryptosystem to prevent hackers from stealing sensitive information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ACBD3AD-F0C0-8035-F4B5-7FCEBE330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511767"/>
            <a:ext cx="1981199" cy="184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77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93" grpId="0" animBg="1"/>
      <p:bldP spid="101" grpId="0" animBg="1"/>
      <p:bldP spid="103" grpId="0" animBg="1"/>
      <p:bldP spid="1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A07434-E76D-463E-932E-72C49AB8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3">
                <a:extLst>
                  <a:ext uri="{FF2B5EF4-FFF2-40B4-BE49-F238E27FC236}">
                    <a16:creationId xmlns:a16="http://schemas.microsoft.com/office/drawing/2014/main" id="{BCE80D99-4DC6-679A-A80C-7BB6D9C8C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74638"/>
                <a:ext cx="8229600" cy="11430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3200" b="1" dirty="0">
                    <a:solidFill>
                      <a:srgbClr val="7030A0"/>
                    </a:solidFill>
                  </a:rPr>
                  <a:t>RSA Cryptosystem 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r>
                  <a:rPr lang="en-US" sz="1800" b="1" dirty="0">
                    <a:solidFill>
                      <a:srgbClr val="002060"/>
                    </a:solidFill>
                  </a:rPr>
                  <a:t>(Rivest, Shamir and Adleman,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𝟏𝟗𝟕𝟕</m:t>
                    </m:r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)</a:t>
                </a:r>
                <a:endParaRPr lang="en-IN" sz="1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Title 3">
                <a:extLst>
                  <a:ext uri="{FF2B5EF4-FFF2-40B4-BE49-F238E27FC236}">
                    <a16:creationId xmlns:a16="http://schemas.microsoft.com/office/drawing/2014/main" id="{BCE80D99-4DC6-679A-A80C-7BB6D9C8C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638"/>
                <a:ext cx="8229600" cy="1143000"/>
              </a:xfrm>
              <a:prstGeom prst="rect">
                <a:avLst/>
              </a:prstGeom>
              <a:blipFill>
                <a:blip r:embed="rId2"/>
                <a:stretch>
                  <a:fillRect t="-69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A1F419-461E-A182-5430-060508A66E66}"/>
              </a:ext>
            </a:extLst>
          </p:cNvPr>
          <p:cNvSpPr txBox="1">
            <a:spLocks/>
          </p:cNvSpPr>
          <p:nvPr/>
        </p:nvSpPr>
        <p:spPr>
          <a:xfrm>
            <a:off x="304800" y="1600201"/>
            <a:ext cx="8839200" cy="1447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/>
              <a:t>It is a public-key cryptosystem that uses a pair of keys for secure communication:</a:t>
            </a:r>
          </a:p>
          <a:p>
            <a:r>
              <a:rPr lang="en-IN" sz="2000" b="1" dirty="0"/>
              <a:t>Public key (</a:t>
            </a:r>
            <a:r>
              <a:rPr lang="en-IN" sz="2000" b="1" dirty="0" err="1">
                <a:solidFill>
                  <a:srgbClr val="7030A0"/>
                </a:solidFill>
              </a:rPr>
              <a:t>e,n</a:t>
            </a:r>
            <a:r>
              <a:rPr lang="en-IN" sz="2000" b="1" dirty="0"/>
              <a:t>):</a:t>
            </a:r>
            <a:r>
              <a:rPr lang="en-IN" sz="2000" dirty="0"/>
              <a:t> Used to encrypt data (available publicly)</a:t>
            </a:r>
            <a:endParaRPr lang="en-IN" sz="2000" b="1" dirty="0"/>
          </a:p>
          <a:p>
            <a:r>
              <a:rPr lang="en-IN" sz="2000" b="1" dirty="0"/>
              <a:t>Private key (</a:t>
            </a:r>
            <a:r>
              <a:rPr lang="en-IN" sz="2000" b="1" dirty="0" err="1">
                <a:solidFill>
                  <a:srgbClr val="7030A0"/>
                </a:solidFill>
              </a:rPr>
              <a:t>d,n</a:t>
            </a:r>
            <a:r>
              <a:rPr lang="en-IN" sz="2000" b="1" dirty="0"/>
              <a:t>):</a:t>
            </a:r>
            <a:r>
              <a:rPr lang="en-IN" sz="2000" dirty="0"/>
              <a:t> Used to decrypt data (only present with the receiver)</a:t>
            </a:r>
            <a:endParaRPr lang="en-IN" sz="2000" b="1" dirty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C1D06B-329E-AF9D-4DCC-FBF45DB62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71844"/>
            <a:ext cx="1676400" cy="1011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F7BDD-9A4B-CC16-8D82-3901A6E2B05A}"/>
              </a:ext>
            </a:extLst>
          </p:cNvPr>
          <p:cNvSpPr txBox="1"/>
          <p:nvPr/>
        </p:nvSpPr>
        <p:spPr>
          <a:xfrm>
            <a:off x="812292" y="6214030"/>
            <a:ext cx="12710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Message </a:t>
            </a:r>
            <a:r>
              <a:rPr lang="en-US" dirty="0">
                <a:solidFill>
                  <a:srgbClr val="7030A0"/>
                </a:solidFill>
              </a:rPr>
              <a:t>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A15782-5F14-480B-A5E5-A51F6828C5A0}"/>
              </a:ext>
            </a:extLst>
          </p:cNvPr>
          <p:cNvCxnSpPr/>
          <p:nvPr/>
        </p:nvCxnSpPr>
        <p:spPr>
          <a:xfrm flipV="1">
            <a:off x="1295400" y="548378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90EE75-7C23-457A-D682-D49A8D7EC619}"/>
              </a:ext>
            </a:extLst>
          </p:cNvPr>
          <p:cNvSpPr/>
          <p:nvPr/>
        </p:nvSpPr>
        <p:spPr>
          <a:xfrm>
            <a:off x="304801" y="2841481"/>
            <a:ext cx="2895600" cy="12184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Encrypt the message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using public key 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c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=m</a:t>
            </a:r>
            <a:r>
              <a:rPr lang="en-IN" baseline="30000" dirty="0">
                <a:solidFill>
                  <a:schemeClr val="bg2">
                    <a:lumMod val="10000"/>
                  </a:schemeClr>
                </a:solidFill>
              </a:rPr>
              <a:t>e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mod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n</a:t>
            </a:r>
            <a:endParaRPr lang="en-US" dirty="0"/>
          </a:p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(size of m is smaller than n)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54DFA3-3F5F-A614-B63C-C9E3C22745DA}"/>
              </a:ext>
            </a:extLst>
          </p:cNvPr>
          <p:cNvCxnSpPr/>
          <p:nvPr/>
        </p:nvCxnSpPr>
        <p:spPr>
          <a:xfrm>
            <a:off x="3200401" y="3429000"/>
            <a:ext cx="3505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loud">
            <a:extLst>
              <a:ext uri="{FF2B5EF4-FFF2-40B4-BE49-F238E27FC236}">
                <a16:creationId xmlns:a16="http://schemas.microsoft.com/office/drawing/2014/main" id="{9F4437ED-34BD-4EB3-B3EF-E1BC121BF347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3724657" y="2813533"/>
            <a:ext cx="2209800" cy="148087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Transmit the cyphertext </a:t>
            </a:r>
            <a:r>
              <a:rPr lang="en-US" dirty="0">
                <a:solidFill>
                  <a:srgbClr val="0070C0"/>
                </a:solidFill>
              </a:rPr>
              <a:t>c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68138F-045B-3BA4-E432-344134EF30F2}"/>
              </a:ext>
            </a:extLst>
          </p:cNvPr>
          <p:cNvCxnSpPr>
            <a:cxnSpLocks/>
          </p:cNvCxnSpPr>
          <p:nvPr/>
        </p:nvCxnSpPr>
        <p:spPr>
          <a:xfrm flipV="1">
            <a:off x="1307592" y="4105216"/>
            <a:ext cx="0" cy="378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A97F75D5-253F-70AD-6F18-222F94BB5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923032"/>
            <a:ext cx="1676400" cy="1011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01A34E-B7F3-1E22-0032-4111E53AD2DD}"/>
              </a:ext>
            </a:extLst>
          </p:cNvPr>
          <p:cNvSpPr/>
          <p:nvPr/>
        </p:nvSpPr>
        <p:spPr>
          <a:xfrm>
            <a:off x="5931409" y="4423075"/>
            <a:ext cx="2895600" cy="11941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Decrypt the cyphertext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using the private key to recover original message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m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=c</a:t>
            </a:r>
            <a:r>
              <a:rPr lang="en-IN" baseline="300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mod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n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0A6B32-CCC6-02E6-82A5-EFB5D2821BE6}"/>
              </a:ext>
            </a:extLst>
          </p:cNvPr>
          <p:cNvCxnSpPr>
            <a:cxnSpLocks/>
          </p:cNvCxnSpPr>
          <p:nvPr/>
        </p:nvCxnSpPr>
        <p:spPr>
          <a:xfrm>
            <a:off x="7239000" y="3934968"/>
            <a:ext cx="0" cy="363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791CB3-7CB6-D73C-6643-B1C1DDFE6DDB}"/>
              </a:ext>
            </a:extLst>
          </p:cNvPr>
          <p:cNvCxnSpPr>
            <a:cxnSpLocks/>
          </p:cNvCxnSpPr>
          <p:nvPr/>
        </p:nvCxnSpPr>
        <p:spPr>
          <a:xfrm>
            <a:off x="7239000" y="5617236"/>
            <a:ext cx="0" cy="552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DD95F1-DC5D-CD0E-A942-A01F9CD50899}"/>
              </a:ext>
            </a:extLst>
          </p:cNvPr>
          <p:cNvSpPr txBox="1"/>
          <p:nvPr/>
        </p:nvSpPr>
        <p:spPr>
          <a:xfrm>
            <a:off x="6603492" y="6214030"/>
            <a:ext cx="12710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Receiver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82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6" grpId="0" animBg="1"/>
      <p:bldP spid="8" grpId="0" animBg="1"/>
      <p:bldP spid="10" grpId="0" animBg="1"/>
      <p:bldP spid="14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88C-0F06-1912-605C-97690764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3">
                <a:extLst>
                  <a:ext uri="{FF2B5EF4-FFF2-40B4-BE49-F238E27FC236}">
                    <a16:creationId xmlns:a16="http://schemas.microsoft.com/office/drawing/2014/main" id="{F1A44648-A465-F1EE-72F5-1CA1DBBA92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74638"/>
                <a:ext cx="8229600" cy="11430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3200" b="1" dirty="0">
                    <a:solidFill>
                      <a:srgbClr val="7030A0"/>
                    </a:solidFill>
                  </a:rPr>
                  <a:t>RSA Cryptosystem 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r>
                  <a:rPr lang="en-US" sz="1800" b="1" dirty="0">
                    <a:solidFill>
                      <a:srgbClr val="002060"/>
                    </a:solidFill>
                  </a:rPr>
                  <a:t>(Rivest, Shamir and Adleman,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𝟏𝟗𝟕𝟕</m:t>
                    </m:r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)</a:t>
                </a:r>
                <a:endParaRPr lang="en-IN" sz="1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Title 3">
                <a:extLst>
                  <a:ext uri="{FF2B5EF4-FFF2-40B4-BE49-F238E27FC236}">
                    <a16:creationId xmlns:a16="http://schemas.microsoft.com/office/drawing/2014/main" id="{F1A44648-A465-F1EE-72F5-1CA1DBBA9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638"/>
                <a:ext cx="8229600" cy="1143000"/>
              </a:xfrm>
              <a:prstGeom prst="rect">
                <a:avLst/>
              </a:prstGeom>
              <a:blipFill>
                <a:blip r:embed="rId2"/>
                <a:stretch>
                  <a:fillRect t="-69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42B7A65-A758-6648-79DD-8FA7E728E0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7150" indent="0">
                  <a:buFont typeface="Arial" charset="0"/>
                  <a:buNone/>
                </a:pPr>
                <a:r>
                  <a:rPr lang="en-US" sz="2400" b="1" dirty="0">
                    <a:solidFill>
                      <a:srgbClr val="00B050"/>
                    </a:solidFill>
                  </a:rPr>
                  <a:t>Key Generation</a:t>
                </a:r>
                <a:r>
                  <a:rPr lang="en-US" sz="2400" dirty="0"/>
                  <a:t>:</a:t>
                </a:r>
              </a:p>
              <a:p>
                <a:pPr marL="400050"/>
                <a:r>
                  <a:rPr lang="en-US" sz="1900" dirty="0"/>
                  <a:t>Two large prime numbers </a:t>
                </a:r>
                <a:r>
                  <a:rPr lang="en-US" sz="1900" b="1" dirty="0">
                    <a:solidFill>
                      <a:srgbClr val="0070C0"/>
                    </a:solidFill>
                  </a:rPr>
                  <a:t>p</a:t>
                </a:r>
                <a:r>
                  <a:rPr lang="en-US" sz="1900" dirty="0"/>
                  <a:t> and </a:t>
                </a:r>
                <a:r>
                  <a:rPr lang="en-US" sz="1900" b="1" dirty="0">
                    <a:solidFill>
                      <a:srgbClr val="0070C0"/>
                    </a:solidFill>
                  </a:rPr>
                  <a:t>q</a:t>
                </a:r>
                <a:r>
                  <a:rPr lang="en-US" sz="1900" dirty="0"/>
                  <a:t> of large size (order of 10</a:t>
                </a:r>
                <a:r>
                  <a:rPr lang="en-US" sz="1900" baseline="30000" dirty="0"/>
                  <a:t>3</a:t>
                </a:r>
                <a:r>
                  <a:rPr lang="en-US" sz="1900" dirty="0"/>
                  <a:t> bits) are selected</a:t>
                </a:r>
              </a:p>
              <a:p>
                <a:pPr marL="400050"/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I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𝒑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∙</m:t>
                    </m:r>
                    <m:r>
                      <a:rPr lang="en-I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𝒒</m:t>
                    </m:r>
                  </m:oMath>
                </a14:m>
                <a:r>
                  <a:rPr lang="en-US" sz="1900" dirty="0"/>
                  <a:t> : This value is used in both public and private keys</a:t>
                </a:r>
              </a:p>
              <a:p>
                <a:pPr marL="400050"/>
                <a:r>
                  <a:rPr lang="en-US" sz="1900" dirty="0"/>
                  <a:t>Totient function </a:t>
                </a:r>
                <a:r>
                  <a:rPr lang="en-US" sz="1900" dirty="0">
                    <a:solidFill>
                      <a:srgbClr val="0070C0"/>
                    </a:solidFill>
                  </a:rPr>
                  <a:t>ɸ(n)</a:t>
                </a:r>
                <a:r>
                  <a:rPr lang="en-US" sz="1900" dirty="0"/>
                  <a:t>: </a:t>
                </a:r>
                <a:r>
                  <a:rPr lang="en-US" sz="1800" dirty="0"/>
                  <a:t> </a:t>
                </a:r>
                <a:r>
                  <a:rPr lang="en-US" sz="18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ɸ(n)</a:t>
                </a:r>
                <a14:m>
                  <m:oMath xmlns:m="http://schemas.openxmlformats.org/officeDocument/2006/math">
                    <m:r>
                      <a:rPr lang="en-IN" sz="1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IN" sz="1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𝒑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𝟏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)∙(</m:t>
                    </m:r>
                    <m:r>
                      <a:rPr lang="en-IN" sz="1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𝒒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𝟏</m:t>
                    </m:r>
                    <m:r>
                      <a:rPr lang="en-IN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400050"/>
                <a:r>
                  <a:rPr lang="en-US" sz="1800" dirty="0"/>
                  <a:t>Public Exponent (</a:t>
                </a:r>
                <a:r>
                  <a:rPr lang="en-US" sz="1800" dirty="0">
                    <a:solidFill>
                      <a:srgbClr val="0070C0"/>
                    </a:solidFill>
                  </a:rPr>
                  <a:t>e</a:t>
                </a:r>
                <a:r>
                  <a:rPr lang="en-US" sz="1800" dirty="0"/>
                  <a:t>): Number such that 1&lt;e&lt;</a:t>
                </a:r>
                <a:r>
                  <a:rPr lang="en-US" sz="1900" dirty="0"/>
                  <a:t>ɸ(n) and </a:t>
                </a:r>
                <a:r>
                  <a:rPr lang="en-US" sz="1900" dirty="0" err="1">
                    <a:solidFill>
                      <a:srgbClr val="002060"/>
                    </a:solidFill>
                  </a:rPr>
                  <a:t>gcd</a:t>
                </a:r>
                <a:r>
                  <a:rPr lang="en-US" sz="1900" dirty="0">
                    <a:solidFill>
                      <a:srgbClr val="002060"/>
                    </a:solidFill>
                  </a:rPr>
                  <a:t>(e, ɸ(n))=1</a:t>
                </a:r>
                <a:r>
                  <a:rPr lang="en-US" sz="1900" dirty="0"/>
                  <a:t> (e=65537 is a common choice)</a:t>
                </a:r>
              </a:p>
              <a:p>
                <a:pPr marL="400050"/>
                <a:r>
                  <a:rPr lang="en-US" sz="1900" dirty="0"/>
                  <a:t>Private Exponent (</a:t>
                </a:r>
                <a:r>
                  <a:rPr lang="en-US" sz="1900" dirty="0">
                    <a:solidFill>
                      <a:srgbClr val="00B0F0"/>
                    </a:solidFill>
                  </a:rPr>
                  <a:t>d</a:t>
                </a:r>
                <a:r>
                  <a:rPr lang="en-US" sz="1900" dirty="0"/>
                  <a:t>): Modular inverse of e modulo ɸ(n) (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𝑑</m:t>
                    </m:r>
                    <m:r>
                      <a:rPr lang="en-US" sz="1800" b="0" i="1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∙</m:t>
                    </m:r>
                    <m:r>
                      <a:rPr lang="en-IN" sz="1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𝑒</m:t>
                    </m:r>
                    <m:r>
                      <a:rPr lang="en-IN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IN" sz="1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𝐦𝐨𝐝</m:t>
                    </m:r>
                    <m:r>
                      <m:rPr>
                        <m:nor/>
                      </m:rPr>
                      <a:rPr lang="en-IN" sz="1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ɸ(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800" b="0" i="1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IN" sz="1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57150" indent="0">
                  <a:buNone/>
                </a:pPr>
                <a:endParaRPr lang="en-US" sz="1900" dirty="0"/>
              </a:p>
              <a:p>
                <a:pPr marL="57150" indent="0">
                  <a:buNone/>
                </a:pPr>
                <a:endParaRPr lang="en-US" sz="2800" dirty="0"/>
              </a:p>
              <a:p>
                <a:pPr marL="0" indent="0">
                  <a:buFont typeface="Arial" charset="0"/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42B7A65-A758-6648-79DD-8FA7E728E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>
                <a:blip r:embed="rId3"/>
                <a:stretch>
                  <a:fillRect l="-444" t="-1078" r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05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818CF-014C-DD38-F723-939BA24E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1ABD374A-58FA-E935-716C-177E7FAA1C0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>
                <a:solidFill>
                  <a:srgbClr val="FF0000"/>
                </a:solidFill>
              </a:rPr>
              <a:t>How secure is RSA cryptosystem?</a:t>
            </a:r>
            <a:endParaRPr lang="en-US" sz="3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6">
                <a:extLst>
                  <a:ext uri="{FF2B5EF4-FFF2-40B4-BE49-F238E27FC236}">
                    <a16:creationId xmlns:a16="http://schemas.microsoft.com/office/drawing/2014/main" id="{2D10EDC4-414B-2415-932B-02725309C7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00200"/>
                <a:ext cx="8229600" cy="498316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The security of </a:t>
                </a:r>
                <a:r>
                  <a:rPr lang="en-US" sz="2000" dirty="0">
                    <a:solidFill>
                      <a:srgbClr val="002060"/>
                    </a:solidFill>
                  </a:rPr>
                  <a:t>RSA</a:t>
                </a:r>
                <a:r>
                  <a:rPr lang="en-US" sz="2000" dirty="0"/>
                  <a:t> is based on the computational difficulty of factoring large composite numbers.</a:t>
                </a:r>
              </a:p>
              <a:p>
                <a:pPr marL="0" indent="0">
                  <a:buNone/>
                </a:pPr>
                <a:r>
                  <a:rPr lang="en-US" sz="2000" dirty="0"/>
                  <a:t>Although the public key, which includes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and </a:t>
                </a:r>
                <a:r>
                  <a:rPr lang="en-US" sz="2000" dirty="0">
                    <a:solidFill>
                      <a:srgbClr val="0070C0"/>
                    </a:solidFill>
                  </a:rPr>
                  <a:t>e</a:t>
                </a:r>
                <a:r>
                  <a:rPr lang="en-US" sz="2000" dirty="0"/>
                  <a:t>, is publicly available, recovering the private key requires factoring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into its prime factors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p</a:t>
                </a:r>
                <a:r>
                  <a:rPr lang="en-US" sz="2000" dirty="0"/>
                  <a:t> and </a:t>
                </a:r>
                <a:r>
                  <a:rPr lang="en-US" sz="2000" dirty="0">
                    <a:solidFill>
                      <a:srgbClr val="0070C0"/>
                    </a:solidFill>
                  </a:rPr>
                  <a:t>q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With sufficiently </a:t>
                </a:r>
                <a:r>
                  <a:rPr lang="en-US" sz="2000" dirty="0">
                    <a:solidFill>
                      <a:srgbClr val="0070C0"/>
                    </a:solidFill>
                  </a:rPr>
                  <a:t>large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70C0"/>
                    </a:solidFill>
                  </a:rPr>
                  <a:t>primes</a:t>
                </a:r>
                <a:r>
                  <a:rPr lang="en-US" sz="2000" dirty="0"/>
                  <a:t> (e.g., 2048 bits), this factorization becomes practically infeasible.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The Main Challenge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Choosing sufficiently large primes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p</a:t>
                </a:r>
                <a:r>
                  <a:rPr lang="en-US" sz="2000" dirty="0"/>
                  <a:t> and </a:t>
                </a:r>
                <a:r>
                  <a:rPr lang="en-US" sz="2000" dirty="0">
                    <a:solidFill>
                      <a:srgbClr val="0070C0"/>
                    </a:solidFill>
                  </a:rPr>
                  <a:t>q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Algorithm for generating a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dirty="0">
                    <a:solidFill>
                      <a:srgbClr val="00B050"/>
                    </a:solidFill>
                  </a:rPr>
                  <a:t> bit prime number:</a:t>
                </a:r>
              </a:p>
              <a:p>
                <a:pPr marL="0" indent="0">
                  <a:buNone/>
                </a:pPr>
                <a:r>
                  <a:rPr lang="en-US" sz="2000" dirty="0"/>
                  <a:t>Assign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Repeat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Choose an integer </a:t>
                </a:r>
                <a:r>
                  <a:rPr lang="en-US" sz="2000" dirty="0">
                    <a:solidFill>
                      <a:srgbClr val="7030A0"/>
                    </a:solidFill>
                  </a:rPr>
                  <a:t>r</a:t>
                </a:r>
                <a:r>
                  <a:rPr lang="en-US" sz="2000" dirty="0"/>
                  <a:t> from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</a:rPr>
                      <m:t>[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i="1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uniformly at random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If(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isprime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7030A0"/>
                    </a:solidFill>
                  </a:rPr>
                  <a:t>r</a:t>
                </a:r>
                <a:r>
                  <a:rPr lang="en-US" sz="2000" dirty="0"/>
                  <a:t>)=true)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ym typeface="Wingdings" pitchFamily="2" charset="2"/>
                  </a:rPr>
                  <a:t>1</a:t>
                </a:r>
                <a:r>
                  <a:rPr lang="en-US" sz="2000" dirty="0"/>
                  <a:t>;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Until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IN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dirty="0"/>
                  <a:t>;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6">
                <a:extLst>
                  <a:ext uri="{FF2B5EF4-FFF2-40B4-BE49-F238E27FC236}">
                    <a16:creationId xmlns:a16="http://schemas.microsoft.com/office/drawing/2014/main" id="{2D10EDC4-414B-2415-932B-02725309C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4983162"/>
              </a:xfrm>
              <a:prstGeom prst="rect">
                <a:avLst/>
              </a:prstGeom>
              <a:blipFill>
                <a:blip r:embed="rId2"/>
                <a:stretch>
                  <a:fillRect l="-815" t="-734" b="-1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8319518C-79DD-4907-1ADF-7A6CBA3A1D29}"/>
              </a:ext>
            </a:extLst>
          </p:cNvPr>
          <p:cNvSpPr/>
          <p:nvPr/>
        </p:nvSpPr>
        <p:spPr>
          <a:xfrm>
            <a:off x="914400" y="5791200"/>
            <a:ext cx="12954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Callout 6">
            <a:extLst>
              <a:ext uri="{FF2B5EF4-FFF2-40B4-BE49-F238E27FC236}">
                <a16:creationId xmlns:a16="http://schemas.microsoft.com/office/drawing/2014/main" id="{17D29AA4-8F1D-C7E3-AEF8-D64355EAA871}"/>
              </a:ext>
            </a:extLst>
          </p:cNvPr>
          <p:cNvSpPr/>
          <p:nvPr/>
        </p:nvSpPr>
        <p:spPr>
          <a:xfrm>
            <a:off x="4572000" y="3200400"/>
            <a:ext cx="4572000" cy="1905000"/>
          </a:xfrm>
          <a:prstGeom prst="cloudCallout">
            <a:avLst>
              <a:gd name="adj1" fmla="val -24784"/>
              <a:gd name="adj2" fmla="val 7383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This leads us to the question:</a:t>
            </a:r>
          </a:p>
          <a:p>
            <a:pPr marL="0" indent="0">
              <a:buNone/>
            </a:pPr>
            <a:r>
              <a:rPr lang="en-US" i="1" dirty="0">
                <a:solidFill>
                  <a:srgbClr val="7030A0"/>
                </a:solidFill>
              </a:rPr>
              <a:t>How can we determine if a n bit integer is prime in optimal time ? (n is of the order of 10</a:t>
            </a:r>
            <a:r>
              <a:rPr lang="en-US" i="1" baseline="30000" dirty="0">
                <a:solidFill>
                  <a:srgbClr val="7030A0"/>
                </a:solidFill>
              </a:rPr>
              <a:t>3</a:t>
            </a:r>
            <a:r>
              <a:rPr lang="en-US" i="1" dirty="0">
                <a:solidFill>
                  <a:srgbClr val="7030A0"/>
                </a:solidFill>
              </a:rPr>
              <a:t> bits)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2FF7F3-DBB3-0F17-875F-F86338E80338}"/>
              </a:ext>
            </a:extLst>
          </p:cNvPr>
          <p:cNvCxnSpPr>
            <a:stCxn id="7" idx="7"/>
          </p:cNvCxnSpPr>
          <p:nvPr/>
        </p:nvCxnSpPr>
        <p:spPr>
          <a:xfrm rot="5400000" flipH="1" flipV="1">
            <a:off x="2805369" y="3939125"/>
            <a:ext cx="1133755" cy="27043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50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3D4716-2725-AE18-20B0-26C44C72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0E0A566-CD69-2C9F-4C66-5BD142FB94C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>
                <a:solidFill>
                  <a:srgbClr val="7030A0"/>
                </a:solidFill>
              </a:rPr>
              <a:t> Primality Testing</a:t>
            </a: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2CF7C146-363D-0DEC-99AF-FF5387D9F8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Problem: </a:t>
                </a:r>
                <a:r>
                  <a:rPr lang="en-US" sz="2000" dirty="0"/>
                  <a:t>Given an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bit integer, determine if it is prime.</a:t>
                </a:r>
              </a:p>
              <a:p>
                <a:pPr marL="0" indent="0">
                  <a:buFont typeface="Arial" charset="0"/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Font typeface="Arial" charset="0"/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Trivial Algorithms:</a:t>
                </a:r>
              </a:p>
              <a:p>
                <a:r>
                  <a:rPr lang="en-US" sz="2000" dirty="0"/>
                  <a:t>Trial division</a:t>
                </a:r>
              </a:p>
              <a:p>
                <a:r>
                  <a:rPr lang="en-US" sz="2000" dirty="0"/>
                  <a:t>Sieve of Eratosthenes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Best deterministic algorithm:</a:t>
                </a:r>
                <a:r>
                  <a:rPr lang="en-US" sz="2000" b="1" dirty="0"/>
                  <a:t> [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Agrawal, Kayal </a:t>
                </a:r>
                <a:r>
                  <a:rPr lang="en-US" sz="2000" dirty="0"/>
                  <a:t>and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Saxena, 2002</a:t>
                </a:r>
                <a:r>
                  <a:rPr lang="en-US" sz="2000" b="1" dirty="0"/>
                  <a:t>] 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r>
                  <a:rPr lang="en-US" sz="1800" dirty="0"/>
                  <a:t> </a:t>
                </a:r>
                <a:r>
                  <a:rPr lang="en-US" sz="1800" b="1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en-US" sz="1800" b="1" dirty="0"/>
                  <a:t>)</a:t>
                </a:r>
                <a:r>
                  <a:rPr lang="en-US" sz="1800" dirty="0"/>
                  <a:t> time complexity.</a:t>
                </a:r>
                <a:r>
                  <a:rPr lang="en-US" sz="1800" b="1" dirty="0"/>
                  <a:t> 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Randomized Monte Carlo algorithm: </a:t>
                </a: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Rabin, 1980</a:t>
                </a:r>
                <a:r>
                  <a:rPr lang="en-US" sz="2000" b="1" dirty="0"/>
                  <a:t>]</a:t>
                </a:r>
              </a:p>
              <a:p>
                <a:r>
                  <a:rPr lang="en-US" sz="1800" b="1" dirty="0"/>
                  <a:t>O(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B050"/>
                    </a:solidFill>
                  </a:rPr>
                  <a:t> </a:t>
                </a:r>
                <a:r>
                  <a:rPr lang="en-US" sz="1800" b="1" dirty="0"/>
                  <a:t>)</a:t>
                </a:r>
                <a:r>
                  <a:rPr lang="en-US" sz="1800" dirty="0"/>
                  <a:t> time complexity. </a:t>
                </a:r>
              </a:p>
              <a:p>
                <a:r>
                  <a:rPr lang="en-US" sz="1800" dirty="0"/>
                  <a:t>Error probability: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US" sz="1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sz="1800" b="1" dirty="0"/>
                  <a:t> for any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 that we desire  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2CF7C146-363D-0DEC-99AF-FF5387D9F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94C2973-B606-1783-DE2B-0A5051A41F0E}"/>
              </a:ext>
            </a:extLst>
          </p:cNvPr>
          <p:cNvGrpSpPr/>
          <p:nvPr/>
        </p:nvGrpSpPr>
        <p:grpSpPr>
          <a:xfrm>
            <a:off x="4982963" y="2667000"/>
            <a:ext cx="3144191" cy="685800"/>
            <a:chOff x="4875276" y="1981200"/>
            <a:chExt cx="3144191" cy="990600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C0C6C4BD-C6CC-C3EA-0ED6-6608897F2574}"/>
                </a:ext>
              </a:extLst>
            </p:cNvPr>
            <p:cNvSpPr/>
            <p:nvPr/>
          </p:nvSpPr>
          <p:spPr>
            <a:xfrm>
              <a:off x="4875276" y="1981200"/>
              <a:ext cx="230124" cy="99060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AC74B9-5E7A-D233-C782-27B0CED9D2E7}"/>
                </a:ext>
              </a:extLst>
            </p:cNvPr>
            <p:cNvSpPr txBox="1"/>
            <p:nvPr/>
          </p:nvSpPr>
          <p:spPr>
            <a:xfrm>
              <a:off x="5105400" y="2286001"/>
              <a:ext cx="2914067" cy="4801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Exponential time Algorithms</a:t>
              </a:r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F13F809-1854-BDD3-5E2D-77A769BDF0B5}"/>
              </a:ext>
            </a:extLst>
          </p:cNvPr>
          <p:cNvSpPr txBox="1"/>
          <p:nvPr/>
        </p:nvSpPr>
        <p:spPr>
          <a:xfrm>
            <a:off x="3200400" y="4453339"/>
            <a:ext cx="5715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Difficult to implement and involves complex computations  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DFA2A-CC65-4059-1E86-5AAC1E828D12}"/>
              </a:ext>
            </a:extLst>
          </p:cNvPr>
          <p:cNvSpPr txBox="1"/>
          <p:nvPr/>
        </p:nvSpPr>
        <p:spPr>
          <a:xfrm>
            <a:off x="5463218" y="5202833"/>
            <a:ext cx="3617593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Uses elementary number theory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Easy to implement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Simple and elegant 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3809-846C-303A-D5A7-19BFD844E9E9}"/>
              </a:ext>
            </a:extLst>
          </p:cNvPr>
          <p:cNvSpPr txBox="1"/>
          <p:nvPr/>
        </p:nvSpPr>
        <p:spPr>
          <a:xfrm>
            <a:off x="317190" y="6174799"/>
            <a:ext cx="8318811" cy="646331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Aim: </a:t>
            </a:r>
            <a:r>
              <a:rPr lang="en-US" dirty="0"/>
              <a:t>To design a randomized </a:t>
            </a:r>
            <a:r>
              <a:rPr lang="en-US" b="1" dirty="0"/>
              <a:t>Monte Carlo Algorithm</a:t>
            </a:r>
            <a:r>
              <a:rPr lang="en-US" dirty="0"/>
              <a:t> for checking if a </a:t>
            </a:r>
            <a:r>
              <a:rPr lang="en-US" dirty="0">
                <a:solidFill>
                  <a:srgbClr val="00B050"/>
                </a:solidFill>
              </a:rPr>
              <a:t>m</a:t>
            </a:r>
            <a:r>
              <a:rPr lang="en-US" dirty="0"/>
              <a:t> bit number </a:t>
            </a:r>
            <a:r>
              <a:rPr lang="en-US" dirty="0">
                <a:solidFill>
                  <a:srgbClr val="0070C0"/>
                </a:solidFill>
              </a:rPr>
              <a:t>𝑛</a:t>
            </a:r>
            <a:r>
              <a:rPr lang="en-US" dirty="0"/>
              <a:t> is prime or not.</a:t>
            </a:r>
          </a:p>
        </p:txBody>
      </p:sp>
    </p:spTree>
    <p:extLst>
      <p:ext uri="{BB962C8B-B14F-4D97-AF65-F5344CB8AC3E}">
        <p14:creationId xmlns:p14="http://schemas.microsoft.com/office/powerpoint/2010/main" val="276683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A0A3A6-8C34-C0F2-D5A1-FE51EBEC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856449-3EA6-904D-6DAE-EC67A9B4923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C00000"/>
                </a:solidFill>
              </a:rPr>
              <a:t>Fermat Little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99C9C8-9E09-2BC1-261C-D06D88BA7566}"/>
                  </a:ext>
                </a:extLst>
              </p:cNvPr>
              <p:cNvSpPr txBox="1"/>
              <p:nvPr/>
            </p:nvSpPr>
            <p:spPr>
              <a:xfrm>
                <a:off x="571500" y="1295400"/>
                <a:ext cx="8001000" cy="4355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solidFill>
                      <a:srgbClr val="00B050"/>
                    </a:solidFill>
                  </a:rPr>
                  <a:t>Theorem:</a:t>
                </a:r>
                <a:endParaRPr lang="en-US" sz="2200" dirty="0"/>
              </a:p>
              <a:p>
                <a:r>
                  <a:rPr lang="en-US" sz="2000" dirty="0"/>
                  <a:t>The number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, is prime if and only if </a:t>
                </a:r>
              </a:p>
              <a:p>
                <a:r>
                  <a:rPr lang="en-US" sz="2000" dirty="0"/>
                  <a:t>			</a:t>
                </a:r>
                <a:r>
                  <a:rPr lang="en-US" sz="2000" dirty="0">
                    <a:solidFill>
                      <a:srgbClr val="7030A0"/>
                    </a:solidFill>
                  </a:rPr>
                  <a:t>a</a:t>
                </a:r>
                <a:r>
                  <a:rPr lang="en-US" sz="2000" baseline="30000" dirty="0">
                    <a:solidFill>
                      <a:srgbClr val="0070C0"/>
                    </a:solidFill>
                  </a:rPr>
                  <a:t>n-1</a:t>
                </a:r>
                <a:r>
                  <a:rPr lang="en-US" sz="2000" dirty="0"/>
                  <a:t> </a:t>
                </a:r>
                <a:r>
                  <a:rPr lang="en-US" sz="2000" b="1" dirty="0"/>
                  <a:t>mod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 </a:t>
                </a:r>
                <a:r>
                  <a:rPr lang="en-US" sz="2000" dirty="0"/>
                  <a:t>= 1 </a:t>
                </a:r>
              </a:p>
              <a:p>
                <a:r>
                  <a:rPr lang="en-US" sz="2000" dirty="0"/>
                  <a:t>for every integer </a:t>
                </a:r>
                <a:r>
                  <a:rPr lang="en-IN" sz="2000" dirty="0">
                    <a:solidFill>
                      <a:srgbClr val="7030A0"/>
                    </a:solidFill>
                  </a:rPr>
                  <a:t>𝑎</a:t>
                </a:r>
                <a:r>
                  <a:rPr lang="en-IN" sz="2000" dirty="0"/>
                  <a:t> ∈ </a:t>
                </a:r>
                <a:r>
                  <a:rPr lang="en-IN" sz="2000" dirty="0">
                    <a:solidFill>
                      <a:srgbClr val="FF0000"/>
                    </a:solidFill>
                  </a:rPr>
                  <a:t>𝑆</a:t>
                </a:r>
                <a:r>
                  <a:rPr lang="en-IN" sz="2000" dirty="0"/>
                  <a:t> = {1, 2, 3, . . . , 𝑛 − 1}</a:t>
                </a:r>
                <a:endParaRPr lang="en-US" b="1" dirty="0">
                  <a:solidFill>
                    <a:srgbClr val="00B050"/>
                  </a:solidFill>
                </a:endParaRPr>
              </a:p>
              <a:p>
                <a:r>
                  <a:rPr lang="en-US" sz="2000" b="1" dirty="0">
                    <a:solidFill>
                      <a:srgbClr val="00B050"/>
                    </a:solidFill>
                  </a:rPr>
                  <a:t>Some observations: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900" dirty="0"/>
                  <a:t>If </a:t>
                </a:r>
                <a:r>
                  <a:rPr lang="en-US" sz="1900" dirty="0">
                    <a:solidFill>
                      <a:srgbClr val="0070C0"/>
                    </a:solidFill>
                  </a:rPr>
                  <a:t>n</a:t>
                </a:r>
                <a:r>
                  <a:rPr lang="en-US" sz="1900" dirty="0"/>
                  <a:t> is prime, then </a:t>
                </a:r>
                <a:r>
                  <a:rPr lang="en-US" sz="1900" dirty="0">
                    <a:solidFill>
                      <a:srgbClr val="7030A0"/>
                    </a:solidFill>
                  </a:rPr>
                  <a:t>a</a:t>
                </a:r>
                <a:r>
                  <a:rPr lang="en-US" sz="1900" baseline="30000" dirty="0">
                    <a:solidFill>
                      <a:srgbClr val="0070C0"/>
                    </a:solidFill>
                  </a:rPr>
                  <a:t>n-1</a:t>
                </a:r>
                <a:r>
                  <a:rPr lang="en-US" sz="1900" dirty="0"/>
                  <a:t> </a:t>
                </a:r>
                <a:r>
                  <a:rPr lang="en-US" sz="1900" b="1" dirty="0"/>
                  <a:t>mod</a:t>
                </a:r>
                <a:r>
                  <a:rPr lang="en-US" sz="1900" dirty="0"/>
                  <a:t> </a:t>
                </a:r>
                <a:r>
                  <a:rPr lang="en-US" sz="1900" dirty="0">
                    <a:solidFill>
                      <a:srgbClr val="0070C0"/>
                    </a:solidFill>
                  </a:rPr>
                  <a:t>n </a:t>
                </a:r>
                <a:r>
                  <a:rPr lang="en-US" sz="1900" dirty="0"/>
                  <a:t>= 1 </a:t>
                </a:r>
                <a:r>
                  <a:rPr lang="en-IN" sz="1900" dirty="0"/>
                  <a:t> for every </a:t>
                </a:r>
                <a:r>
                  <a:rPr lang="en-US" sz="1900" dirty="0">
                    <a:solidFill>
                      <a:srgbClr val="7030A0"/>
                    </a:solidFill>
                  </a:rPr>
                  <a:t>a </a:t>
                </a:r>
                <a:r>
                  <a:rPr lang="en-US" sz="1900" dirty="0"/>
                  <a:t>∈ </a:t>
                </a:r>
                <a:r>
                  <a:rPr lang="en-US" sz="1900" dirty="0">
                    <a:solidFill>
                      <a:srgbClr val="FF0000"/>
                    </a:solidFill>
                  </a:rPr>
                  <a:t>S</a:t>
                </a:r>
                <a:r>
                  <a:rPr lang="en-US" sz="19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900" dirty="0"/>
                  <a:t>If </a:t>
                </a:r>
                <a:r>
                  <a:rPr lang="en-US" sz="1900" dirty="0">
                    <a:solidFill>
                      <a:srgbClr val="0070C0"/>
                    </a:solidFill>
                  </a:rPr>
                  <a:t>n </a:t>
                </a:r>
                <a:r>
                  <a:rPr lang="en-US" sz="1900" dirty="0"/>
                  <a:t>is composite, then </a:t>
                </a:r>
                <a:r>
                  <a:rPr lang="en-US" sz="1900" dirty="0">
                    <a:solidFill>
                      <a:srgbClr val="7030A0"/>
                    </a:solidFill>
                  </a:rPr>
                  <a:t>a</a:t>
                </a:r>
                <a:r>
                  <a:rPr lang="en-US" sz="1900" baseline="30000" dirty="0">
                    <a:solidFill>
                      <a:srgbClr val="0070C0"/>
                    </a:solidFill>
                  </a:rPr>
                  <a:t>n-1</a:t>
                </a:r>
                <a:r>
                  <a:rPr lang="en-US" sz="1900" dirty="0"/>
                  <a:t> </a:t>
                </a:r>
                <a:r>
                  <a:rPr lang="en-US" sz="1900" b="1" dirty="0"/>
                  <a:t>mod</a:t>
                </a:r>
                <a:r>
                  <a:rPr lang="en-US" sz="1900" dirty="0"/>
                  <a:t> </a:t>
                </a:r>
                <a:r>
                  <a:rPr lang="en-US" sz="1900" dirty="0">
                    <a:solidFill>
                      <a:srgbClr val="0070C0"/>
                    </a:solidFill>
                  </a:rPr>
                  <a:t>n </a:t>
                </a:r>
                <a:r>
                  <a:rPr lang="en-US" sz="1900" dirty="0"/>
                  <a:t>≠ 1 for at least one </a:t>
                </a:r>
                <a:r>
                  <a:rPr lang="en-US" sz="1900" dirty="0">
                    <a:solidFill>
                      <a:srgbClr val="7030A0"/>
                    </a:solidFill>
                  </a:rPr>
                  <a:t>a </a:t>
                </a:r>
                <a:r>
                  <a:rPr lang="en-US" sz="1900" dirty="0"/>
                  <a:t>∈ </a:t>
                </a:r>
                <a:r>
                  <a:rPr lang="en-US" sz="1900" dirty="0">
                    <a:solidFill>
                      <a:srgbClr val="FF0000"/>
                    </a:solidFill>
                  </a:rPr>
                  <a:t>S</a:t>
                </a:r>
              </a:p>
              <a:p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sz="2200" b="1" dirty="0">
                    <a:solidFill>
                      <a:srgbClr val="FF0000"/>
                    </a:solidFill>
                  </a:rPr>
                  <a:t>Fermat Witness: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Definition: </a:t>
                </a:r>
                <a:r>
                  <a:rPr lang="en-US" sz="2000" dirty="0"/>
                  <a:t>Suppose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is composite. Consider</a:t>
                </a: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	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1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  <m:r>
                      <m:rPr>
                        <m:nor/>
                      </m:rP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 1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Elements of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are called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Fermat Witness</a:t>
                </a:r>
                <a:r>
                  <a:rPr lang="en-US" sz="2000" b="1" dirty="0"/>
                  <a:t> </a:t>
                </a:r>
                <a:r>
                  <a:rPr lang="en-US" sz="2000" dirty="0"/>
                  <a:t>to the fact that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is composite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endParaRPr lang="en-US" dirty="0"/>
              </a:p>
              <a:p>
                <a:endParaRPr lang="en-IN" sz="1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99C9C8-9E09-2BC1-261C-D06D88BA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295400"/>
                <a:ext cx="8001000" cy="4355038"/>
              </a:xfrm>
              <a:prstGeom prst="rect">
                <a:avLst/>
              </a:prstGeom>
              <a:blipFill>
                <a:blip r:embed="rId2"/>
                <a:stretch>
                  <a:fillRect l="-991" t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70DB4BF-AFB0-B2D1-7112-4BA42719BB0D}"/>
              </a:ext>
            </a:extLst>
          </p:cNvPr>
          <p:cNvSpPr/>
          <p:nvPr/>
        </p:nvSpPr>
        <p:spPr>
          <a:xfrm>
            <a:off x="4343400" y="3962400"/>
            <a:ext cx="186436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uiExpan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F04540-98B4-E46F-31C8-F2D18967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61A1B7-F2E9-DB0E-792A-BFA899ED50B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Some more witnesses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1408A-8D0D-2512-EBA6-3F92B9073509}"/>
              </a:ext>
            </a:extLst>
          </p:cNvPr>
          <p:cNvSpPr txBox="1"/>
          <p:nvPr/>
        </p:nvSpPr>
        <p:spPr>
          <a:xfrm>
            <a:off x="755142" y="1064500"/>
            <a:ext cx="8001000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Divisor Witness:</a:t>
            </a:r>
          </a:p>
          <a:p>
            <a:r>
              <a:rPr lang="en-US" sz="1900" b="1" dirty="0">
                <a:solidFill>
                  <a:srgbClr val="7030A0"/>
                </a:solidFill>
              </a:rPr>
              <a:t>Definition: </a:t>
            </a:r>
            <a:r>
              <a:rPr lang="en-US" sz="1900" dirty="0"/>
              <a:t>Suppose </a:t>
            </a:r>
            <a:r>
              <a:rPr lang="en-US" sz="1900" dirty="0">
                <a:solidFill>
                  <a:srgbClr val="0070C0"/>
                </a:solidFill>
              </a:rPr>
              <a:t>n</a:t>
            </a:r>
            <a:r>
              <a:rPr lang="en-US" sz="1900" dirty="0"/>
              <a:t> is composite.</a:t>
            </a:r>
          </a:p>
          <a:p>
            <a:r>
              <a:rPr lang="en-US" sz="1900" dirty="0"/>
              <a:t>If there exist some </a:t>
            </a:r>
            <a:r>
              <a:rPr lang="en-IN" sz="1900" dirty="0">
                <a:solidFill>
                  <a:srgbClr val="7030A0"/>
                </a:solidFill>
              </a:rPr>
              <a:t>𝑘</a:t>
            </a:r>
            <a:r>
              <a:rPr lang="en-IN" sz="1900" dirty="0"/>
              <a:t> ∈ 𝑆 = {2, 3, 4, . . . , 𝑛 − 1} </a:t>
            </a:r>
            <a:r>
              <a:rPr lang="en-US" sz="1900" dirty="0"/>
              <a:t>such that </a:t>
            </a:r>
            <a:r>
              <a:rPr lang="en-IN" sz="1900" dirty="0">
                <a:solidFill>
                  <a:srgbClr val="7030A0"/>
                </a:solidFill>
              </a:rPr>
              <a:t>𝑘</a:t>
            </a:r>
            <a:r>
              <a:rPr lang="en-IN" sz="1900" dirty="0"/>
              <a:t> ǀ </a:t>
            </a:r>
            <a:r>
              <a:rPr lang="en-IN" sz="1900" dirty="0">
                <a:solidFill>
                  <a:srgbClr val="00B0F0"/>
                </a:solidFill>
              </a:rPr>
              <a:t>𝑛</a:t>
            </a:r>
            <a:r>
              <a:rPr lang="en-IN" sz="1900" dirty="0"/>
              <a:t>,</a:t>
            </a:r>
            <a:endParaRPr lang="en-US" sz="1900" dirty="0"/>
          </a:p>
          <a:p>
            <a:r>
              <a:rPr lang="en-US" sz="1900" dirty="0"/>
              <a:t>then </a:t>
            </a:r>
            <a:r>
              <a:rPr lang="en-US" sz="1900" dirty="0">
                <a:solidFill>
                  <a:srgbClr val="7030A0"/>
                </a:solidFill>
              </a:rPr>
              <a:t>k </a:t>
            </a:r>
            <a:r>
              <a:rPr lang="en-US" sz="1900" dirty="0"/>
              <a:t>is a </a:t>
            </a:r>
            <a:r>
              <a:rPr lang="en-US" sz="1900" b="1" dirty="0">
                <a:solidFill>
                  <a:srgbClr val="FF0000"/>
                </a:solidFill>
              </a:rPr>
              <a:t>divisor witness</a:t>
            </a:r>
            <a:r>
              <a:rPr lang="en-US" sz="1900" dirty="0"/>
              <a:t> to </a:t>
            </a:r>
            <a:r>
              <a:rPr lang="en-US" sz="1900" dirty="0">
                <a:solidFill>
                  <a:srgbClr val="0070C0"/>
                </a:solidFill>
              </a:rPr>
              <a:t>n</a:t>
            </a:r>
            <a:r>
              <a:rPr lang="en-US" sz="1900" dirty="0"/>
              <a:t> being composite. </a:t>
            </a:r>
            <a:endParaRPr lang="en-US" sz="1900" dirty="0">
              <a:solidFill>
                <a:srgbClr val="7030A0"/>
              </a:solidFill>
            </a:endParaRPr>
          </a:p>
          <a:p>
            <a:endParaRPr lang="en-US" sz="2000" b="1" i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GCD Witness:</a:t>
            </a:r>
          </a:p>
          <a:p>
            <a:r>
              <a:rPr lang="en-US" sz="1900" b="1" dirty="0">
                <a:solidFill>
                  <a:srgbClr val="7030A0"/>
                </a:solidFill>
              </a:rPr>
              <a:t>Definition: </a:t>
            </a:r>
            <a:r>
              <a:rPr lang="en-US" sz="1900" dirty="0"/>
              <a:t>Suppose </a:t>
            </a:r>
            <a:r>
              <a:rPr lang="en-US" sz="1900" dirty="0">
                <a:solidFill>
                  <a:srgbClr val="0070C0"/>
                </a:solidFill>
              </a:rPr>
              <a:t>n</a:t>
            </a:r>
            <a:r>
              <a:rPr lang="en-US" sz="1900" dirty="0"/>
              <a:t> is composite. </a:t>
            </a:r>
          </a:p>
          <a:p>
            <a:r>
              <a:rPr lang="en-US" sz="1900" dirty="0"/>
              <a:t>If there exists some </a:t>
            </a:r>
            <a:r>
              <a:rPr lang="en-US" sz="1900" dirty="0">
                <a:solidFill>
                  <a:srgbClr val="7030A0"/>
                </a:solidFill>
              </a:rPr>
              <a:t>𝑎</a:t>
            </a:r>
            <a:r>
              <a:rPr lang="en-US" sz="1900" dirty="0"/>
              <a:t> ∈ {1, 2, 3, . . ., 𝑛 − 1} such that </a:t>
            </a:r>
            <a:r>
              <a:rPr lang="en-US" sz="1900" dirty="0" err="1">
                <a:solidFill>
                  <a:srgbClr val="002060"/>
                </a:solidFill>
              </a:rPr>
              <a:t>gcd</a:t>
            </a:r>
            <a:r>
              <a:rPr lang="en-US" sz="1900" dirty="0"/>
              <a:t>(</a:t>
            </a:r>
            <a:r>
              <a:rPr lang="en-US" sz="1900" dirty="0">
                <a:solidFill>
                  <a:srgbClr val="7030A0"/>
                </a:solidFill>
              </a:rPr>
              <a:t>𝑎</a:t>
            </a:r>
            <a:r>
              <a:rPr lang="en-US" sz="1900" dirty="0"/>
              <a:t>,</a:t>
            </a:r>
            <a:r>
              <a:rPr lang="en-US" sz="1900" dirty="0">
                <a:solidFill>
                  <a:srgbClr val="0070C0"/>
                </a:solidFill>
              </a:rPr>
              <a:t>𝑛</a:t>
            </a:r>
            <a:r>
              <a:rPr lang="en-US" sz="1900" dirty="0"/>
              <a:t>) &gt; 1,</a:t>
            </a:r>
          </a:p>
          <a:p>
            <a:r>
              <a:rPr lang="en-US" sz="1900" dirty="0"/>
              <a:t>then</a:t>
            </a:r>
            <a:r>
              <a:rPr lang="en-US" sz="1900" dirty="0">
                <a:solidFill>
                  <a:srgbClr val="7030A0"/>
                </a:solidFill>
              </a:rPr>
              <a:t> 𝑎 </a:t>
            </a:r>
            <a:r>
              <a:rPr lang="en-US" sz="1900" dirty="0"/>
              <a:t>is a </a:t>
            </a:r>
            <a:r>
              <a:rPr lang="en-US" sz="1900" b="1" dirty="0">
                <a:solidFill>
                  <a:srgbClr val="FF0000"/>
                </a:solidFill>
              </a:rPr>
              <a:t>GCD witness</a:t>
            </a:r>
            <a:r>
              <a:rPr lang="en-US" sz="1900" dirty="0"/>
              <a:t> to </a:t>
            </a:r>
            <a:r>
              <a:rPr lang="en-US" sz="1900" dirty="0">
                <a:solidFill>
                  <a:srgbClr val="0070C0"/>
                </a:solidFill>
              </a:rPr>
              <a:t>n</a:t>
            </a:r>
            <a:r>
              <a:rPr lang="en-US" sz="1900" dirty="0"/>
              <a:t> being composite. </a:t>
            </a:r>
            <a:endParaRPr lang="en-US" sz="1900" b="1" i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000" b="1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Theorem 1:</a:t>
            </a:r>
          </a:p>
          <a:p>
            <a:r>
              <a:rPr lang="en-US" sz="2000" dirty="0"/>
              <a:t>For every composite number </a:t>
            </a:r>
            <a:r>
              <a:rPr lang="en-US" sz="2000" dirty="0">
                <a:solidFill>
                  <a:srgbClr val="0070C0"/>
                </a:solidFill>
              </a:rPr>
              <a:t>𝑛</a:t>
            </a:r>
            <a:r>
              <a:rPr lang="en-US" sz="2000" dirty="0"/>
              <a:t>, every </a:t>
            </a:r>
            <a:r>
              <a:rPr lang="en-US" sz="2000" dirty="0">
                <a:solidFill>
                  <a:srgbClr val="FFC000"/>
                </a:solidFill>
              </a:rPr>
              <a:t>divisor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witness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0070C0"/>
                </a:solidFill>
              </a:rPr>
              <a:t>𝑛</a:t>
            </a:r>
            <a:r>
              <a:rPr lang="en-US" sz="2000" dirty="0"/>
              <a:t>’s compositeness is also a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gcd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witness</a:t>
            </a:r>
            <a:r>
              <a:rPr lang="en-US" sz="2000" dirty="0"/>
              <a:t>, and every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gcd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witness</a:t>
            </a:r>
            <a:r>
              <a:rPr lang="en-US" sz="2000" dirty="0"/>
              <a:t> is also a </a:t>
            </a:r>
            <a:r>
              <a:rPr lang="en-US" sz="2000" dirty="0">
                <a:solidFill>
                  <a:srgbClr val="92D050"/>
                </a:solidFill>
              </a:rPr>
              <a:t>Fermat witness</a:t>
            </a:r>
            <a:r>
              <a:rPr lang="en-US" sz="2000" dirty="0"/>
              <a:t>.</a:t>
            </a:r>
          </a:p>
          <a:p>
            <a:endParaRPr lang="en-US" sz="2000" b="1" i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/>
          </a:p>
          <a:p>
            <a:endParaRPr lang="en-IN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55A85-D2C0-8C96-4E5F-E3E0C8CBC955}"/>
              </a:ext>
            </a:extLst>
          </p:cNvPr>
          <p:cNvSpPr/>
          <p:nvPr/>
        </p:nvSpPr>
        <p:spPr>
          <a:xfrm>
            <a:off x="4114800" y="4248767"/>
            <a:ext cx="4495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63BED4-1D5E-3F8C-64EE-484C24DC6B18}"/>
              </a:ext>
            </a:extLst>
          </p:cNvPr>
          <p:cNvSpPr/>
          <p:nvPr/>
        </p:nvSpPr>
        <p:spPr>
          <a:xfrm>
            <a:off x="755142" y="4666347"/>
            <a:ext cx="22143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56C25-3D9D-BC6D-E233-78B1C9B4657E}"/>
              </a:ext>
            </a:extLst>
          </p:cNvPr>
          <p:cNvSpPr/>
          <p:nvPr/>
        </p:nvSpPr>
        <p:spPr>
          <a:xfrm>
            <a:off x="2971800" y="4644070"/>
            <a:ext cx="49194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C54A91-FE00-1E20-D741-72D63CDF89F0}"/>
              </a:ext>
            </a:extLst>
          </p:cNvPr>
          <p:cNvSpPr/>
          <p:nvPr/>
        </p:nvSpPr>
        <p:spPr>
          <a:xfrm>
            <a:off x="1124998" y="5618503"/>
            <a:ext cx="820158" cy="830008"/>
          </a:xfrm>
          <a:prstGeom prst="ellips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D641EA-B769-F617-8DF6-1B3016B918D5}"/>
              </a:ext>
            </a:extLst>
          </p:cNvPr>
          <p:cNvSpPr/>
          <p:nvPr/>
        </p:nvSpPr>
        <p:spPr>
          <a:xfrm>
            <a:off x="851686" y="5398246"/>
            <a:ext cx="1366781" cy="1256981"/>
          </a:xfrm>
          <a:prstGeom prst="ellips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7AD289-2489-3416-F2D5-8810A756A27E}"/>
              </a:ext>
            </a:extLst>
          </p:cNvPr>
          <p:cNvSpPr/>
          <p:nvPr/>
        </p:nvSpPr>
        <p:spPr>
          <a:xfrm>
            <a:off x="615342" y="5022954"/>
            <a:ext cx="1839465" cy="1813710"/>
          </a:xfrm>
          <a:prstGeom prst="ellips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6B41B7-978F-A9D3-3399-777478DAED82}"/>
              </a:ext>
            </a:extLst>
          </p:cNvPr>
          <p:cNvSpPr/>
          <p:nvPr/>
        </p:nvSpPr>
        <p:spPr>
          <a:xfrm>
            <a:off x="1088783" y="5710342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b="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4C03F63-7B03-D31D-39B8-BFE145C2B649}"/>
                  </a:ext>
                </a:extLst>
              </p:cNvPr>
              <p:cNvSpPr/>
              <p:nvPr/>
            </p:nvSpPr>
            <p:spPr>
              <a:xfrm>
                <a:off x="1118921" y="5332340"/>
                <a:ext cx="81426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𝑔𝑐𝑑</m:t>
                      </m:r>
                    </m:oMath>
                  </m:oMathPara>
                </a14:m>
                <a:endParaRPr lang="en-IN" b="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4C03F63-7B03-D31D-39B8-BFE145C2B6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21" y="5332340"/>
                <a:ext cx="81426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112F35-9B69-DFFD-7A9E-2973294A7C8F}"/>
                  </a:ext>
                </a:extLst>
              </p:cNvPr>
              <p:cNvSpPr/>
              <p:nvPr/>
            </p:nvSpPr>
            <p:spPr>
              <a:xfrm>
                <a:off x="1003712" y="5076621"/>
                <a:ext cx="106272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𝑓𝑒𝑟𝑚𝑎𝑡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112F35-9B69-DFFD-7A9E-2973294A7C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12" y="5076621"/>
                <a:ext cx="106272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D918A4-291C-B572-F611-A4D8C78BE5E9}"/>
                  </a:ext>
                </a:extLst>
              </p:cNvPr>
              <p:cNvSpPr txBox="1"/>
              <p:nvPr/>
            </p:nvSpPr>
            <p:spPr>
              <a:xfrm>
                <a:off x="1075265" y="5833605"/>
                <a:ext cx="6079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𝑑𝑖𝑣𝑖𝑠𝑜𝑟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D918A4-291C-B572-F611-A4D8C78BE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265" y="5833605"/>
                <a:ext cx="607947" cy="369332"/>
              </a:xfrm>
              <a:prstGeom prst="rect">
                <a:avLst/>
              </a:prstGeom>
              <a:blipFill>
                <a:blip r:embed="rId5"/>
                <a:stretch>
                  <a:fillRect r="-51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29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uiExpand="1" animBg="1"/>
      <p:bldP spid="6" grpId="0" uiExpand="1" animBg="1"/>
      <p:bldP spid="7" grpId="0" uiExpand="1" animBg="1"/>
      <p:bldP spid="19" grpId="0" animBg="1"/>
      <p:bldP spid="20" grpId="0" animBg="1"/>
      <p:bldP spid="21" grpId="0" animBg="1"/>
      <p:bldP spid="23" grpId="0"/>
      <p:bldP spid="24" grpId="0"/>
      <p:bldP spid="25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0C9FD-9C1B-46AF-54C2-2F66BB0D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F4EAEE-62F3-ACBF-05AA-1D99591874DB}"/>
                  </a:ext>
                </a:extLst>
              </p:cNvPr>
              <p:cNvSpPr txBox="1"/>
              <p:nvPr/>
            </p:nvSpPr>
            <p:spPr>
              <a:xfrm>
                <a:off x="533400" y="685800"/>
                <a:ext cx="7467600" cy="6186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800" dirty="0"/>
              </a:p>
              <a:p>
                <a:endParaRPr lang="en-US" dirty="0"/>
              </a:p>
              <a:p>
                <a:endParaRPr lang="en-US" sz="1800" b="1" dirty="0">
                  <a:solidFill>
                    <a:srgbClr val="FF0000"/>
                  </a:solidFill>
                </a:endParaRPr>
              </a:p>
              <a:p>
                <a:endParaRPr lang="en-US" sz="1800" b="1" dirty="0">
                  <a:solidFill>
                    <a:srgbClr val="FF0000"/>
                  </a:solidFill>
                </a:endParaRPr>
              </a:p>
              <a:p>
                <a:r>
                  <a:rPr lang="en-US" sz="1800" b="1" dirty="0">
                    <a:solidFill>
                      <a:srgbClr val="FF0000"/>
                    </a:solidFill>
                  </a:rPr>
                  <a:t>Proof:</a:t>
                </a:r>
              </a:p>
              <a:p>
                <a:r>
                  <a:rPr lang="en-US" sz="1800" dirty="0"/>
                  <a:t>For composite </a:t>
                </a:r>
                <a:r>
                  <a:rPr lang="en-US" sz="1800" dirty="0">
                    <a:solidFill>
                      <a:srgbClr val="0070C0"/>
                    </a:solidFill>
                  </a:rPr>
                  <a:t>𝑛, </a:t>
                </a:r>
                <a:r>
                  <a:rPr lang="en-US" sz="1800" dirty="0"/>
                  <a:t>let there be some </a:t>
                </a:r>
                <a:r>
                  <a:rPr lang="en-IN" sz="1800" dirty="0">
                    <a:solidFill>
                      <a:srgbClr val="7030A0"/>
                    </a:solidFill>
                  </a:rPr>
                  <a:t>𝑘</a:t>
                </a:r>
                <a:r>
                  <a:rPr lang="en-IN" sz="1800" dirty="0"/>
                  <a:t> ∈ 𝑆 = {2, 3, 4, . . . , 𝑛 − 1} </a:t>
                </a:r>
                <a:r>
                  <a:rPr lang="en-US" sz="1800" dirty="0"/>
                  <a:t>such that </a:t>
                </a:r>
                <a:r>
                  <a:rPr lang="en-IN" sz="1800" dirty="0">
                    <a:solidFill>
                      <a:srgbClr val="7030A0"/>
                    </a:solidFill>
                  </a:rPr>
                  <a:t>𝑘</a:t>
                </a:r>
                <a:r>
                  <a:rPr lang="en-IN" sz="1800" dirty="0"/>
                  <a:t> ǀ </a:t>
                </a:r>
                <a:r>
                  <a:rPr lang="en-IN" sz="1800" dirty="0">
                    <a:solidFill>
                      <a:srgbClr val="00B0F0"/>
                    </a:solidFill>
                  </a:rPr>
                  <a:t>𝑛</a:t>
                </a:r>
                <a:r>
                  <a:rPr lang="en-IN" sz="1800" dirty="0"/>
                  <a:t>,</a:t>
                </a:r>
              </a:p>
              <a:p>
                <a:r>
                  <a:rPr lang="en-IN" sz="1800" dirty="0"/>
                  <a:t>then </a:t>
                </a:r>
                <a:r>
                  <a:rPr lang="en-US" sz="1800" dirty="0" err="1">
                    <a:solidFill>
                      <a:srgbClr val="002060"/>
                    </a:solidFill>
                  </a:rPr>
                  <a:t>gcd</a:t>
                </a:r>
                <a:r>
                  <a:rPr lang="en-US" sz="1800" dirty="0"/>
                  <a:t>(</a:t>
                </a:r>
                <a:r>
                  <a:rPr lang="en-IN" sz="1800" dirty="0">
                    <a:solidFill>
                      <a:srgbClr val="7030A0"/>
                    </a:solidFill>
                  </a:rPr>
                  <a:t>𝑘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𝑛</a:t>
                </a:r>
                <a:r>
                  <a:rPr lang="en-US" sz="1800" dirty="0"/>
                  <a:t>) =</a:t>
                </a:r>
                <a:r>
                  <a:rPr lang="en-IN" sz="1800" dirty="0">
                    <a:solidFill>
                      <a:srgbClr val="7030A0"/>
                    </a:solidFill>
                  </a:rPr>
                  <a:t> 𝑘 </a:t>
                </a:r>
                <a:r>
                  <a:rPr lang="en-IN" sz="1800" dirty="0"/>
                  <a:t>&gt; 1. </a:t>
                </a:r>
              </a:p>
              <a:p>
                <a:r>
                  <a:rPr lang="en-IN" dirty="0"/>
                  <a:t>This implies </a:t>
                </a:r>
                <a:r>
                  <a:rPr lang="en-US" sz="1800" dirty="0"/>
                  <a:t>every </a:t>
                </a:r>
                <a:r>
                  <a:rPr lang="en-US" sz="1800" dirty="0">
                    <a:solidFill>
                      <a:srgbClr val="FFC000"/>
                    </a:solidFill>
                  </a:rPr>
                  <a:t>divisor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FFC000"/>
                    </a:solidFill>
                  </a:rPr>
                  <a:t>witness</a:t>
                </a:r>
                <a:r>
                  <a:rPr lang="en-US" sz="1800" dirty="0"/>
                  <a:t> of </a:t>
                </a:r>
                <a:r>
                  <a:rPr lang="en-US" sz="1800" dirty="0">
                    <a:solidFill>
                      <a:srgbClr val="0070C0"/>
                    </a:solidFill>
                  </a:rPr>
                  <a:t>𝑛</a:t>
                </a:r>
                <a:r>
                  <a:rPr lang="en-US" sz="1800" dirty="0"/>
                  <a:t>’s compositeness is also a </a:t>
                </a:r>
                <a:r>
                  <a:rPr lang="en-US" sz="1800" dirty="0" err="1">
                    <a:solidFill>
                      <a:schemeClr val="accent2">
                        <a:lumMod val="50000"/>
                      </a:schemeClr>
                    </a:solidFill>
                  </a:rPr>
                  <a:t>gcd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chemeClr val="accent2">
                        <a:lumMod val="50000"/>
                      </a:schemeClr>
                    </a:solidFill>
                  </a:rPr>
                  <a:t>witness.</a:t>
                </a:r>
              </a:p>
              <a:p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en-US" sz="1800" dirty="0">
                    <a:solidFill>
                      <a:srgbClr val="7030A0"/>
                    </a:solidFill>
                  </a:rPr>
                  <a:t>Now lets prove that every </a:t>
                </a:r>
                <a:r>
                  <a:rPr lang="en-US" sz="1800" dirty="0" err="1">
                    <a:solidFill>
                      <a:srgbClr val="7030A0"/>
                    </a:solidFill>
                  </a:rPr>
                  <a:t>gcd</a:t>
                </a:r>
                <a:r>
                  <a:rPr lang="en-US" sz="1800" dirty="0">
                    <a:solidFill>
                      <a:srgbClr val="7030A0"/>
                    </a:solidFill>
                  </a:rPr>
                  <a:t> witness of n is also a Fermat witness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1800" dirty="0"/>
                  <a:t> be a set of Fermat Witnesses and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1800" dirty="0"/>
                  <a:t> be a set of GCD witnesses: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/>
                        <m:t>∈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chemeClr val="tx1"/>
                          </a:solidFill>
                        </a:rPr>
                        <m:t>Z</m:t>
                      </m:r>
                      <m:r>
                        <m:rPr>
                          <m:nor/>
                        </m:rPr>
                        <a:rPr lang="en-US" baseline="30000" dirty="0" smtClean="0">
                          <a:solidFill>
                            <a:schemeClr val="tx1"/>
                          </a:solidFill>
                        </a:rPr>
                        <m:t>+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1" baseline="30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b="1" baseline="30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−1 </m:t>
                      </m:r>
                      <m:r>
                        <m:rPr>
                          <m:nor/>
                        </m:rPr>
                        <a:rPr lang="en-US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US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 1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/>
                        <m:t>∈ </m:t>
                      </m:r>
                      <m:r>
                        <m:rPr>
                          <m:nor/>
                        </m:rPr>
                        <a:rPr lang="en-US" dirty="0"/>
                        <m:t>Z</m:t>
                      </m:r>
                      <m:r>
                        <m:rPr>
                          <m:nor/>
                        </m:rPr>
                        <a:rPr lang="en-US" baseline="30000" dirty="0"/>
                        <m:t>+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1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m:rPr>
                          <m:nor/>
                        </m:rPr>
                        <a:rPr lang="en-I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To prove: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⊆</a:t>
                </a:r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/>
              </a:p>
              <a:p>
                <a:endParaRPr lang="en-IN" b="1" dirty="0"/>
              </a:p>
              <a:p>
                <a:r>
                  <a:rPr lang="en-IN" b="1" dirty="0"/>
                  <a:t>	</a:t>
                </a:r>
              </a:p>
              <a:p>
                <a:r>
                  <a:rPr lang="en-US" b="1" dirty="0"/>
                  <a:t>	</a:t>
                </a:r>
              </a:p>
              <a:p>
                <a:endParaRPr lang="en-US" b="1" dirty="0">
                  <a:solidFill>
                    <a:schemeClr val="tx1"/>
                  </a:solidFill>
                </a:endParaRPr>
              </a:p>
              <a:p>
                <a:endParaRPr lang="en-US" sz="1800" dirty="0">
                  <a:solidFill>
                    <a:srgbClr val="7030A0"/>
                  </a:solidFill>
                </a:endParaRPr>
              </a:p>
              <a:p>
                <a:endParaRPr lang="en-US" sz="1800" dirty="0">
                  <a:solidFill>
                    <a:srgbClr val="7030A0"/>
                  </a:solidFill>
                </a:endParaRPr>
              </a:p>
              <a:p>
                <a:endParaRPr lang="en-US" sz="1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F4EAEE-62F3-ACBF-05AA-1D9959187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685800"/>
                <a:ext cx="7467600" cy="6186309"/>
              </a:xfrm>
              <a:prstGeom prst="rect">
                <a:avLst/>
              </a:prstGeom>
              <a:blipFill>
                <a:blip r:embed="rId2"/>
                <a:stretch>
                  <a:fillRect l="-7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CAA1F47-41A2-4979-B228-F1B487AF1A6C}"/>
              </a:ext>
            </a:extLst>
          </p:cNvPr>
          <p:cNvSpPr txBox="1"/>
          <p:nvPr/>
        </p:nvSpPr>
        <p:spPr>
          <a:xfrm>
            <a:off x="533400" y="609600"/>
            <a:ext cx="7924800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Theorem 1:</a:t>
            </a:r>
          </a:p>
          <a:p>
            <a:r>
              <a:rPr lang="en-US" sz="2000" dirty="0"/>
              <a:t>For every composite number </a:t>
            </a:r>
            <a:r>
              <a:rPr lang="en-US" sz="2000" dirty="0">
                <a:solidFill>
                  <a:srgbClr val="0070C0"/>
                </a:solidFill>
              </a:rPr>
              <a:t>𝑛</a:t>
            </a:r>
            <a:r>
              <a:rPr lang="en-US" sz="2000" dirty="0"/>
              <a:t>, every </a:t>
            </a:r>
            <a:r>
              <a:rPr lang="en-US" sz="2000" dirty="0">
                <a:solidFill>
                  <a:srgbClr val="FFC000"/>
                </a:solidFill>
              </a:rPr>
              <a:t>divisor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witness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0070C0"/>
                </a:solidFill>
              </a:rPr>
              <a:t>𝑛</a:t>
            </a:r>
            <a:r>
              <a:rPr lang="en-US" sz="2000" dirty="0"/>
              <a:t>’s compositeness is also a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gcd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witness</a:t>
            </a:r>
            <a:r>
              <a:rPr lang="en-US" sz="2000" dirty="0"/>
              <a:t>, and every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gcd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witness</a:t>
            </a:r>
            <a:r>
              <a:rPr lang="en-US" sz="2000" dirty="0"/>
              <a:t> is also a </a:t>
            </a:r>
            <a:r>
              <a:rPr lang="en-US" sz="2000" dirty="0">
                <a:solidFill>
                  <a:srgbClr val="92D050"/>
                </a:solidFill>
              </a:rPr>
              <a:t>Fermat witness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335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861774-0434-5D5A-2EEF-6E9C18FA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1025DDDD-527C-3F38-DBE1-97A2F05890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74638"/>
                <a:ext cx="8229600" cy="1143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To prove: </a:t>
                </a:r>
                <a14:m>
                  <m:oMath xmlns:m="http://schemas.openxmlformats.org/officeDocument/2006/math">
                    <m:r>
                      <a:rPr lang="en-IN" sz="32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3200" b="1" dirty="0"/>
                  <a:t> ⊆</a:t>
                </a:r>
                <a:r>
                  <a:rPr lang="en-IN" sz="3200" b="1" dirty="0"/>
                  <a:t> </a:t>
                </a:r>
                <a14:m>
                  <m:oMath xmlns:m="http://schemas.openxmlformats.org/officeDocument/2006/math">
                    <m:r>
                      <a:rPr lang="en-IN" sz="32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sz="3200" b="1" dirty="0"/>
              </a:p>
              <a:p>
                <a:endParaRPr lang="en-US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1025DDDD-527C-3F38-DBE1-97A2F058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638"/>
                <a:ext cx="8229600" cy="1143000"/>
              </a:xfrm>
              <a:prstGeom prst="rect">
                <a:avLst/>
              </a:prstGeom>
              <a:blipFill>
                <a:blip r:embed="rId2"/>
                <a:stretch>
                  <a:fillRect t="-79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1A4857-840A-0D4F-9D40-400A5652A24C}"/>
                  </a:ext>
                </a:extLst>
              </p:cNvPr>
              <p:cNvSpPr txBox="1"/>
              <p:nvPr/>
            </p:nvSpPr>
            <p:spPr>
              <a:xfrm>
                <a:off x="609600" y="1417638"/>
                <a:ext cx="6781800" cy="3721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dirty="0"/>
                  <a:t> be a GCD witness of </a:t>
                </a:r>
                <a:r>
                  <a:rPr lang="en-US" dirty="0">
                    <a:solidFill>
                      <a:srgbClr val="0070C0"/>
                    </a:solidFill>
                  </a:rPr>
                  <a:t>n</a:t>
                </a:r>
              </a:p>
              <a:p>
                <a:r>
                  <a:rPr lang="en-US" dirty="0"/>
                  <a:t>For some </a:t>
                </a:r>
                <a:r>
                  <a:rPr lang="en-US" dirty="0">
                    <a:solidFill>
                      <a:srgbClr val="92D050"/>
                    </a:solidFill>
                  </a:rPr>
                  <a:t>m, k </a:t>
                </a:r>
                <a:r>
                  <a:rPr lang="en-IN" dirty="0"/>
                  <a:t>∈ ꓜ,</a:t>
                </a:r>
              </a:p>
              <a:p>
                <a:r>
                  <a:rPr lang="en-IN" b="1" dirty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𝒎𝒂</m:t>
                    </m:r>
                    <m:r>
                      <a:rPr lang="pt-B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𝒌𝒏</m:t>
                    </m:r>
                    <m:r>
                      <a:rPr lang="pt-B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𝒈𝒄𝒅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)≠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r>
                  <a:rPr lang="en-US" b="1" dirty="0"/>
                  <a:t>	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IN" b="1" i="1">
                        <a:latin typeface="Cambria Math" panose="02040503050406030204" pitchFamily="18" charset="0"/>
                      </a:rPr>
                      <m:t>𝒎𝒂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IN" b="1" dirty="0"/>
              </a:p>
              <a:p>
                <a:endParaRPr lang="en-IN" b="1" dirty="0"/>
              </a:p>
              <a:p>
                <a:r>
                  <a:rPr lang="en-IN" b="1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	</m:t>
                    </m:r>
                    <m:groupChr>
                      <m:groupChrPr>
                        <m:chr m:val="⇒"/>
                        <m:pos m:val="top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IN" b="1" i="1">
                        <a:latin typeface="Cambria Math" panose="02040503050406030204" pitchFamily="18" charset="0"/>
                      </a:rPr>
                      <m:t>𝒎𝒂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IN" b="1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b="1" dirty="0"/>
                  <a:t>,</a:t>
                </a:r>
              </a:p>
              <a:p>
                <a:r>
                  <a:rPr lang="en-IN" b="1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dirty="0"/>
                          <m:t>	</m:t>
                        </m:r>
                        <m:groupChr>
                          <m:groupChrPr>
                            <m:chr m:val="⇒"/>
                            <m:pos m:val="top"/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/>
                        </m:groupChr>
                        <m:r>
                          <a:rPr lang="pt-B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IN" b="1" dirty="0"/>
              </a:p>
              <a:p>
                <a:endParaRPr lang="en-IN" b="1" dirty="0"/>
              </a:p>
              <a:p>
                <a:r>
                  <a:rPr lang="en-IN" dirty="0"/>
                  <a:t>Therefore , Ɐ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∈</m:t>
                    </m:r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IN" b="1" dirty="0"/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∈</m:t>
                    </m:r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IN" b="1" dirty="0"/>
                  <a:t>.</a:t>
                </a:r>
              </a:p>
              <a:p>
                <a:r>
                  <a:rPr lang="en-IN" b="1" dirty="0"/>
                  <a:t> </a:t>
                </a:r>
                <a:r>
                  <a:rPr lang="en-IN" dirty="0"/>
                  <a:t>Hence,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⊆</a:t>
                </a:r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/>
              </a:p>
              <a:p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1A4857-840A-0D4F-9D40-400A5652A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17638"/>
                <a:ext cx="6781800" cy="3721468"/>
              </a:xfrm>
              <a:prstGeom prst="rect">
                <a:avLst/>
              </a:prstGeom>
              <a:blipFill>
                <a:blip r:embed="rId3"/>
                <a:stretch>
                  <a:fillRect l="-719" t="-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139434F-7C4D-D642-1475-19906A337A08}"/>
                  </a:ext>
                </a:extLst>
              </p:cNvPr>
              <p:cNvSpPr/>
              <p:nvPr/>
            </p:nvSpPr>
            <p:spPr>
              <a:xfrm>
                <a:off x="4724400" y="879666"/>
                <a:ext cx="4191000" cy="949134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IN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>
                          <a:solidFill>
                            <a:schemeClr val="tx1"/>
                          </a:solidFill>
                        </a:rPr>
                        <m:t>∈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Z</m:t>
                      </m:r>
                      <m:r>
                        <m:rPr>
                          <m:nor/>
                        </m:rPr>
                        <a:rPr lang="en-US" baseline="30000" dirty="0">
                          <a:solidFill>
                            <a:schemeClr val="tx1"/>
                          </a:solidFill>
                        </a:rPr>
                        <m:t>+</m:t>
                      </m:r>
                      <m:r>
                        <a:rPr lang="en-I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b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 1</m:t>
                      </m:r>
                      <m:r>
                        <a:rPr lang="en-US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chemeClr val="tx1"/>
                          </a:solidFill>
                        </a:rPr>
                        <m:t>∈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chemeClr val="tx1"/>
                          </a:solidFill>
                        </a:rPr>
                        <m:t>Z</m:t>
                      </m:r>
                      <m:r>
                        <m:rPr>
                          <m:nor/>
                        </m:rPr>
                        <a:rPr lang="en-US" baseline="30000" dirty="0" smtClean="0">
                          <a:solidFill>
                            <a:schemeClr val="tx1"/>
                          </a:solidFill>
                        </a:rPr>
                        <m:t>+</m:t>
                      </m:r>
                      <m:r>
                        <a:rPr lang="en-I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IN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gcd</m:t>
                      </m:r>
                      <m:r>
                        <m:rPr>
                          <m:nor/>
                        </m:rPr>
                        <a:rPr lang="en-I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b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IN" b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I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n-I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139434F-7C4D-D642-1475-19906A337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879666"/>
                <a:ext cx="4191000" cy="94913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909D36C-D0D9-9091-53E3-10D7620FC792}"/>
              </a:ext>
            </a:extLst>
          </p:cNvPr>
          <p:cNvSpPr txBox="1"/>
          <p:nvPr/>
        </p:nvSpPr>
        <p:spPr>
          <a:xfrm>
            <a:off x="4752109" y="1955610"/>
            <a:ext cx="178061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Bezout’s</a:t>
            </a:r>
            <a:r>
              <a:rPr lang="en-US" b="1" dirty="0"/>
              <a:t> identity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30E956-3F02-8507-8524-989F0238D113}"/>
              </a:ext>
            </a:extLst>
          </p:cNvPr>
          <p:cNvSpPr/>
          <p:nvPr/>
        </p:nvSpPr>
        <p:spPr>
          <a:xfrm>
            <a:off x="3877270" y="1955610"/>
            <a:ext cx="457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1F49A-E1B1-2A29-00C0-8D9575A66E84}"/>
              </a:ext>
            </a:extLst>
          </p:cNvPr>
          <p:cNvSpPr txBox="1"/>
          <p:nvPr/>
        </p:nvSpPr>
        <p:spPr>
          <a:xfrm>
            <a:off x="4572000" y="2602468"/>
            <a:ext cx="15812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Take modulo 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DB9A5-ED34-586B-057F-6E649CD55FC4}"/>
              </a:ext>
            </a:extLst>
          </p:cNvPr>
          <p:cNvSpPr txBox="1"/>
          <p:nvPr/>
        </p:nvSpPr>
        <p:spPr>
          <a:xfrm>
            <a:off x="429768" y="5075099"/>
            <a:ext cx="7924800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Fact: </a:t>
            </a:r>
          </a:p>
          <a:p>
            <a:r>
              <a:rPr lang="en-IN" sz="2000" dirty="0"/>
              <a:t>The number of </a:t>
            </a:r>
            <a:r>
              <a:rPr lang="en-IN" sz="2000" dirty="0">
                <a:solidFill>
                  <a:srgbClr val="FFC000"/>
                </a:solidFill>
              </a:rPr>
              <a:t>divisor witnesses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C00000"/>
                </a:solidFill>
              </a:rPr>
              <a:t>GCD witnesses</a:t>
            </a:r>
            <a:r>
              <a:rPr lang="en-IN" sz="2000" dirty="0"/>
              <a:t> is very small,</a:t>
            </a:r>
          </a:p>
          <a:p>
            <a:r>
              <a:rPr lang="en-IN" sz="2000" dirty="0"/>
              <a:t>while the number of </a:t>
            </a:r>
            <a:r>
              <a:rPr lang="en-IN" sz="2000" dirty="0">
                <a:solidFill>
                  <a:srgbClr val="92D050"/>
                </a:solidFill>
              </a:rPr>
              <a:t>Fermat witnesses</a:t>
            </a:r>
            <a:r>
              <a:rPr lang="en-IN" sz="2000" dirty="0"/>
              <a:t> is typically very high.</a:t>
            </a:r>
          </a:p>
        </p:txBody>
      </p:sp>
    </p:spTree>
    <p:extLst>
      <p:ext uri="{BB962C8B-B14F-4D97-AF65-F5344CB8AC3E}">
        <p14:creationId xmlns:p14="http://schemas.microsoft.com/office/powerpoint/2010/main" val="1229608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uiExpand="1" animBg="1"/>
      <p:bldP spid="10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DEC2D6-FB2F-CCA4-5D37-B1AEF297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158F8-0F68-17F2-8C33-E97C2140B863}"/>
              </a:ext>
            </a:extLst>
          </p:cNvPr>
          <p:cNvSpPr txBox="1"/>
          <p:nvPr/>
        </p:nvSpPr>
        <p:spPr>
          <a:xfrm>
            <a:off x="152400" y="304800"/>
            <a:ext cx="7924800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Fact: </a:t>
            </a:r>
          </a:p>
          <a:p>
            <a:r>
              <a:rPr lang="en-IN" sz="2000" dirty="0"/>
              <a:t>The number of </a:t>
            </a:r>
            <a:r>
              <a:rPr lang="en-IN" sz="2000" dirty="0">
                <a:solidFill>
                  <a:srgbClr val="FFC000"/>
                </a:solidFill>
              </a:rPr>
              <a:t>divisor witnesses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C00000"/>
                </a:solidFill>
              </a:rPr>
              <a:t>GCD witnesses</a:t>
            </a:r>
            <a:r>
              <a:rPr lang="en-IN" sz="2000" dirty="0"/>
              <a:t> is very small,</a:t>
            </a:r>
          </a:p>
          <a:p>
            <a:r>
              <a:rPr lang="en-IN" sz="2000" dirty="0"/>
              <a:t>while the number of </a:t>
            </a:r>
            <a:r>
              <a:rPr lang="en-IN" sz="2000" dirty="0">
                <a:solidFill>
                  <a:srgbClr val="92D050"/>
                </a:solidFill>
              </a:rPr>
              <a:t>Fermat witnesses</a:t>
            </a:r>
            <a:r>
              <a:rPr lang="en-IN" sz="2000" dirty="0"/>
              <a:t> is typically very high.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E2E7D9-4DC7-8F69-E748-EAFADB0B9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700" y="1318204"/>
            <a:ext cx="4953000" cy="2994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A3675C-A911-0B94-3C6D-1C7A880F1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318202"/>
            <a:ext cx="5334000" cy="29948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4D8494-D65A-D54A-90BF-D31E48DB5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4191000"/>
            <a:ext cx="6400800" cy="262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92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E9072E-8590-255F-0BBA-282A95DB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70A3A92-C688-17B7-32F3-7E09C29C96E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Fermat Primality Test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B80F71-DE24-BF48-01BD-4475C91C06C4}"/>
                  </a:ext>
                </a:extLst>
              </p:cNvPr>
              <p:cNvSpPr txBox="1"/>
              <p:nvPr/>
            </p:nvSpPr>
            <p:spPr>
              <a:xfrm>
                <a:off x="609600" y="1295400"/>
                <a:ext cx="7924800" cy="4835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Motivation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: </a:t>
                </a:r>
                <a:r>
                  <a:rPr lang="en-US" dirty="0"/>
                  <a:t>Presence of large number of Fermat Witnesses.</a:t>
                </a:r>
              </a:p>
              <a:p>
                <a:endParaRPr lang="en-US" sz="1800" dirty="0"/>
              </a:p>
              <a:p>
                <a:r>
                  <a:rPr lang="en-US" dirty="0"/>
                  <a:t>Let there be a </a:t>
                </a:r>
                <a:r>
                  <a:rPr lang="en-US" dirty="0">
                    <a:solidFill>
                      <a:srgbClr val="00B050"/>
                    </a:solidFill>
                  </a:rPr>
                  <a:t>m bit</a:t>
                </a:r>
                <a:r>
                  <a:rPr lang="en-US" dirty="0"/>
                  <a:t> integer </a:t>
                </a:r>
                <a:r>
                  <a:rPr lang="en-US" dirty="0">
                    <a:solidFill>
                      <a:srgbClr val="0070C0"/>
                    </a:solidFill>
                  </a:rPr>
                  <a:t>n, </a:t>
                </a:r>
                <a:r>
                  <a:rPr lang="en-US" dirty="0"/>
                  <a:t>which we wish to classify as prime or composite.</a:t>
                </a:r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  <a:p>
                <a:r>
                  <a:rPr lang="en-US" b="1" dirty="0">
                    <a:solidFill>
                      <a:srgbClr val="006C31"/>
                    </a:solidFill>
                  </a:rPr>
                  <a:t>Fermat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-Primality-Test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b="1" dirty="0">
                    <a:solidFill>
                      <a:srgbClr val="006C31"/>
                    </a:solidFill>
                  </a:rPr>
                  <a:t>{</a:t>
                </a:r>
                <a:endParaRPr lang="en-US" sz="1800" dirty="0"/>
              </a:p>
              <a:p>
                <a:r>
                  <a:rPr lang="en-US" dirty="0"/>
                  <a:t>Assign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dirty="0">
                    <a:sym typeface="Wingdings" pitchFamily="2" charset="2"/>
                  </a:rPr>
                  <a:t>0;</a:t>
                </a:r>
                <a:endParaRPr lang="en-US" sz="1800" i="1" dirty="0"/>
              </a:p>
              <a:p>
                <a:pPr marL="0" indent="0">
                  <a:buNone/>
                </a:pPr>
                <a:r>
                  <a:rPr lang="en-US" sz="1800" b="1" dirty="0"/>
                  <a:t>Repeat </a:t>
                </a:r>
                <a:r>
                  <a:rPr lang="en-US" sz="1800" dirty="0">
                    <a:solidFill>
                      <a:srgbClr val="7030A0"/>
                    </a:solidFill>
                  </a:rPr>
                  <a:t>k </a:t>
                </a:r>
                <a:r>
                  <a:rPr lang="en-US" sz="1800" b="1" dirty="0"/>
                  <a:t>times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dirty="0"/>
                  <a:t> Choose </a:t>
                </a:r>
                <a:r>
                  <a:rPr lang="en-IN" dirty="0">
                    <a:solidFill>
                      <a:srgbClr val="7030A0"/>
                    </a:solidFill>
                  </a:rPr>
                  <a:t>𝑎</a:t>
                </a:r>
                <a:r>
                  <a:rPr lang="en-IN" dirty="0"/>
                  <a:t> ∈ </a:t>
                </a:r>
                <a:r>
                  <a:rPr lang="en-IN" dirty="0">
                    <a:solidFill>
                      <a:srgbClr val="FF0000"/>
                    </a:solidFill>
                  </a:rPr>
                  <a:t>𝑆</a:t>
                </a:r>
                <a:r>
                  <a:rPr lang="en-IN" dirty="0"/>
                  <a:t> = {1,2,3,...,𝑛 −1} uniformly at random</a:t>
                </a:r>
                <a:r>
                  <a:rPr lang="en-US" dirty="0"/>
                  <a:t>;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 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dirty="0"/>
                          <m:t>	</m:t>
                        </m:r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,return COMPOSITE, assign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 1 &amp; End Algorithm</a:t>
                </a:r>
                <a:r>
                  <a:rPr lang="en-US" dirty="0"/>
                  <a:t>;</a:t>
                </a:r>
                <a:endParaRPr lang="en-US" sz="1800" b="1" dirty="0"/>
              </a:p>
              <a:p>
                <a:r>
                  <a:rPr lang="en-US" dirty="0"/>
                  <a:t>If(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 = </m:t>
                    </m:r>
                  </m:oMath>
                </a14:m>
                <a:r>
                  <a:rPr lang="en-US" dirty="0"/>
                  <a:t>0)then return PROBABLY PRIME;</a:t>
                </a:r>
              </a:p>
              <a:p>
                <a:r>
                  <a:rPr lang="en-US" b="1" dirty="0">
                    <a:solidFill>
                      <a:srgbClr val="006C31"/>
                    </a:solidFill>
                  </a:rPr>
                  <a:t>}</a:t>
                </a:r>
              </a:p>
              <a:p>
                <a:endParaRPr lang="en-US" dirty="0"/>
              </a:p>
              <a:p>
                <a:endParaRPr lang="en-US" b="1" dirty="0"/>
              </a:p>
              <a:p>
                <a:endParaRPr lang="en-US" sz="1800" b="1" dirty="0"/>
              </a:p>
              <a:p>
                <a:endParaRPr lang="en-US" sz="1800" dirty="0"/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B80F71-DE24-BF48-01BD-4475C91C0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95400"/>
                <a:ext cx="7924800" cy="4835106"/>
              </a:xfrm>
              <a:prstGeom prst="rect">
                <a:avLst/>
              </a:prstGeom>
              <a:blipFill>
                <a:blip r:embed="rId2"/>
                <a:stretch>
                  <a:fillRect l="-615" t="-7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BEAA156-DB04-6B4F-9A01-741A38429A53}"/>
              </a:ext>
            </a:extLst>
          </p:cNvPr>
          <p:cNvSpPr/>
          <p:nvPr/>
        </p:nvSpPr>
        <p:spPr>
          <a:xfrm>
            <a:off x="5181600" y="3557664"/>
            <a:ext cx="1219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C37A2-8D23-7093-3A2B-B22328FD443B}"/>
              </a:ext>
            </a:extLst>
          </p:cNvPr>
          <p:cNvSpPr/>
          <p:nvPr/>
        </p:nvSpPr>
        <p:spPr>
          <a:xfrm>
            <a:off x="6438900" y="3569856"/>
            <a:ext cx="17145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3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uiExpand="1" animBg="1"/>
      <p:bldP spid="6" grpId="0" uiExpan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2C34C9-3883-B1AC-0B84-C7B0453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F4E76E-BBA9-F41A-A13E-650223C1905E}"/>
              </a:ext>
            </a:extLst>
          </p:cNvPr>
          <p:cNvSpPr txBox="1">
            <a:spLocks/>
          </p:cNvSpPr>
          <p:nvPr/>
        </p:nvSpPr>
        <p:spPr>
          <a:xfrm>
            <a:off x="381000" y="17347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>
                <a:solidFill>
                  <a:srgbClr val="C00000"/>
                </a:solidFill>
              </a:rPr>
              <a:t>Error </a:t>
            </a:r>
            <a:r>
              <a:rPr lang="en-US" sz="3200" b="1"/>
              <a:t>Analysis</a:t>
            </a:r>
            <a:endParaRPr lang="en-US" sz="3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A0A699-060A-8ECA-C042-4E32718E6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05086"/>
              </p:ext>
            </p:extLst>
          </p:nvPr>
        </p:nvGraphicFramePr>
        <p:xfrm>
          <a:off x="762000" y="1316470"/>
          <a:ext cx="7620000" cy="179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8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1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17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9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28F03-4E38-EE3D-DE68-012B6E0594B4}"/>
                  </a:ext>
                </a:extLst>
              </p:cNvPr>
              <p:cNvSpPr txBox="1"/>
              <p:nvPr/>
            </p:nvSpPr>
            <p:spPr>
              <a:xfrm>
                <a:off x="1295400" y="1752600"/>
                <a:ext cx="1124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prime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28F03-4E38-EE3D-DE68-012B6E059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752600"/>
                <a:ext cx="1124795" cy="369332"/>
              </a:xfrm>
              <a:prstGeom prst="rect">
                <a:avLst/>
              </a:prstGeom>
              <a:blipFill>
                <a:blip r:embed="rId2"/>
                <a:stretch>
                  <a:fillRect t="-10000" r="-3804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3D515E4-C8B1-F60A-B6F0-C770FC36EFC7}"/>
              </a:ext>
            </a:extLst>
          </p:cNvPr>
          <p:cNvSpPr txBox="1"/>
          <p:nvPr/>
        </p:nvSpPr>
        <p:spPr>
          <a:xfrm>
            <a:off x="2743200" y="1747361"/>
            <a:ext cx="932609" cy="374571"/>
          </a:xfrm>
          <a:prstGeom prst="round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No error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6A02AF-D106-798B-4B9B-590D582A4A5B}"/>
                  </a:ext>
                </a:extLst>
              </p:cNvPr>
              <p:cNvSpPr txBox="1"/>
              <p:nvPr/>
            </p:nvSpPr>
            <p:spPr>
              <a:xfrm>
                <a:off x="1371600" y="2373396"/>
                <a:ext cx="15483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composite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6A02AF-D106-798B-4B9B-590D582A4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373396"/>
                <a:ext cx="1548373" cy="369332"/>
              </a:xfrm>
              <a:prstGeom prst="rect">
                <a:avLst/>
              </a:prstGeom>
              <a:blipFill>
                <a:blip r:embed="rId3"/>
                <a:stretch>
                  <a:fillRect t="-8197" r="-315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C88872-7C4A-BEF1-CF04-C9EA8A836C92}"/>
                  </a:ext>
                </a:extLst>
              </p:cNvPr>
              <p:cNvSpPr txBox="1"/>
              <p:nvPr/>
            </p:nvSpPr>
            <p:spPr>
              <a:xfrm>
                <a:off x="4535055" y="2274804"/>
                <a:ext cx="307250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Fermat witness is not found in </a:t>
                </a:r>
              </a:p>
              <a:p>
                <a:r>
                  <a:rPr lang="en-US" dirty="0"/>
                  <a:t>first 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iterations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C88872-7C4A-BEF1-CF04-C9EA8A836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055" y="2274804"/>
                <a:ext cx="3072508" cy="646331"/>
              </a:xfrm>
              <a:prstGeom prst="rect">
                <a:avLst/>
              </a:prstGeom>
              <a:blipFill>
                <a:blip r:embed="rId4"/>
                <a:stretch>
                  <a:fillRect l="-1786" t="-4717" r="-595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E3B6E5-89EC-D861-1AC2-D8F67FD510FD}"/>
                  </a:ext>
                </a:extLst>
              </p:cNvPr>
              <p:cNvSpPr txBox="1"/>
              <p:nvPr/>
            </p:nvSpPr>
            <p:spPr>
              <a:xfrm>
                <a:off x="685800" y="3391654"/>
                <a:ext cx="6705600" cy="2288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Suppose </a:t>
                </a:r>
                <a:r>
                  <a:rPr lang="en-US" dirty="0"/>
                  <a:t>that we could say that for every composite number </a:t>
                </a:r>
                <a:r>
                  <a:rPr lang="en-US" dirty="0">
                    <a:solidFill>
                      <a:srgbClr val="0070C0"/>
                    </a:solidFill>
                  </a:rPr>
                  <a:t>𝑛</a:t>
                </a:r>
                <a:r>
                  <a:rPr lang="en-US" dirty="0"/>
                  <a:t>,</a:t>
                </a:r>
              </a:p>
              <a:p>
                <a:r>
                  <a:rPr lang="en-US" b="1" dirty="0"/>
                  <a:t>at least half </a:t>
                </a:r>
                <a:r>
                  <a:rPr lang="en-US" dirty="0"/>
                  <a:t>the </a:t>
                </a:r>
                <a:r>
                  <a:rPr lang="en-US" dirty="0">
                    <a:solidFill>
                      <a:srgbClr val="7030A0"/>
                    </a:solidFill>
                  </a:rPr>
                  <a:t>𝑎</a:t>
                </a:r>
                <a:r>
                  <a:rPr lang="en-US" dirty="0"/>
                  <a:t> ∈ </a:t>
                </a:r>
                <a:r>
                  <a:rPr lang="en-US" dirty="0">
                    <a:solidFill>
                      <a:srgbClr val="FF0000"/>
                    </a:solidFill>
                  </a:rPr>
                  <a:t>𝑆</a:t>
                </a:r>
                <a:r>
                  <a:rPr lang="en-US" dirty="0"/>
                  <a:t> = {1,2,3,...,𝑛 − 1} are </a:t>
                </a:r>
                <a:r>
                  <a:rPr lang="en-US" dirty="0">
                    <a:solidFill>
                      <a:srgbClr val="92D050"/>
                    </a:solidFill>
                  </a:rPr>
                  <a:t>Fermat witnesses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Then, for a composite </a:t>
                </a:r>
                <a:r>
                  <a:rPr lang="en-US" dirty="0">
                    <a:solidFill>
                      <a:srgbClr val="0070C0"/>
                    </a:solidFill>
                  </a:rPr>
                  <a:t>𝑛,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𝐍𝐎𝐓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𝑓𝑒𝑟𝑚𝑎𝑡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𝑤𝑖𝑡𝑛𝑒𝑠𝑠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	</m:t>
                    </m:r>
                    <m:groupChr>
                      <m:groupChrPr>
                        <m:chr m:val="⇒"/>
                        <m:pos m:val="top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𝑓𝑒𝑟𝑚𝑎𝑡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𝑤𝑖𝑡𝑛𝑒𝑠𝑠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𝑓𝑜𝑢𝑛𝑑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𝑖𝑡𝑒𝑟𝑎𝑡𝑖𝑜𝑛𝑠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½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US" b="1" dirty="0"/>
                  <a:t>Error probability: </a:t>
                </a:r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E3B6E5-89EC-D861-1AC2-D8F67FD51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91654"/>
                <a:ext cx="6705600" cy="2288127"/>
              </a:xfrm>
              <a:prstGeom prst="rect">
                <a:avLst/>
              </a:prstGeom>
              <a:blipFill>
                <a:blip r:embed="rId5"/>
                <a:stretch>
                  <a:fillRect l="-1818" t="-1862" b="-18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81328B1-1BA9-CE02-C1B3-45E1D763C4A6}"/>
              </a:ext>
            </a:extLst>
          </p:cNvPr>
          <p:cNvSpPr/>
          <p:nvPr/>
        </p:nvSpPr>
        <p:spPr>
          <a:xfrm>
            <a:off x="3124200" y="4309786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72D63A-BB69-3C5A-68FE-405EF86D901E}"/>
                  </a:ext>
                </a:extLst>
              </p:cNvPr>
              <p:cNvSpPr txBox="1"/>
              <p:nvPr/>
            </p:nvSpPr>
            <p:spPr>
              <a:xfrm>
                <a:off x="2514986" y="5173865"/>
                <a:ext cx="1389035" cy="53091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½</m:t>
                          </m:r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72D63A-BB69-3C5A-68FE-405EF86D9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986" y="5173865"/>
                <a:ext cx="1389035" cy="530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34DD04ED-80D4-3A54-493F-060840A61C01}"/>
              </a:ext>
            </a:extLst>
          </p:cNvPr>
          <p:cNvSpPr/>
          <p:nvPr/>
        </p:nvSpPr>
        <p:spPr>
          <a:xfrm>
            <a:off x="391317" y="3232635"/>
            <a:ext cx="6568984" cy="9737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loud Callout 6">
            <a:extLst>
              <a:ext uri="{FF2B5EF4-FFF2-40B4-BE49-F238E27FC236}">
                <a16:creationId xmlns:a16="http://schemas.microsoft.com/office/drawing/2014/main" id="{755915D7-CE87-5CCC-7E6A-E4150452239E}"/>
              </a:ext>
            </a:extLst>
          </p:cNvPr>
          <p:cNvSpPr/>
          <p:nvPr/>
        </p:nvSpPr>
        <p:spPr>
          <a:xfrm>
            <a:off x="4535055" y="4549281"/>
            <a:ext cx="4608945" cy="1143000"/>
          </a:xfrm>
          <a:prstGeom prst="cloudCallout">
            <a:avLst>
              <a:gd name="adj1" fmla="val -24784"/>
              <a:gd name="adj2" fmla="val 7383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7030A0"/>
                </a:solidFill>
              </a:rPr>
              <a:t>Is this assumption really true?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Let’s find out 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6326B79-4E95-6AE0-EF25-ED5B115DFC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08861" y="3922672"/>
            <a:ext cx="934069" cy="15183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36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/>
      <p:bldP spid="10" grpId="0"/>
      <p:bldP spid="13" grpId="0" uiExpand="1" animBg="1"/>
      <p:bldP spid="14" grpId="0" animBg="1"/>
      <p:bldP spid="3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8E2FE-C7B8-8875-ECED-15BA5A1B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30A71-85E3-C6D8-AEBA-9FB469A06EC7}"/>
              </a:ext>
            </a:extLst>
          </p:cNvPr>
          <p:cNvSpPr txBox="1"/>
          <p:nvPr/>
        </p:nvSpPr>
        <p:spPr>
          <a:xfrm>
            <a:off x="152400" y="457200"/>
            <a:ext cx="8763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Theorem 2:</a:t>
            </a:r>
          </a:p>
          <a:p>
            <a:r>
              <a:rPr lang="en-US" dirty="0"/>
              <a:t>For composite number </a:t>
            </a:r>
            <a:r>
              <a:rPr lang="en-US" dirty="0">
                <a:solidFill>
                  <a:srgbClr val="0070C0"/>
                </a:solidFill>
              </a:rPr>
              <a:t>𝑛</a:t>
            </a:r>
            <a:r>
              <a:rPr lang="en-US" dirty="0"/>
              <a:t>, suppose that there is at least one </a:t>
            </a:r>
            <a:r>
              <a:rPr lang="en-US" dirty="0">
                <a:solidFill>
                  <a:srgbClr val="7030A0"/>
                </a:solidFill>
              </a:rPr>
              <a:t>𝑎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𝑆</a:t>
            </a:r>
            <a:r>
              <a:rPr lang="en-US" dirty="0"/>
              <a:t> = {1,2,3,...,𝑛−1} such that</a:t>
            </a:r>
          </a:p>
          <a:p>
            <a:r>
              <a:rPr lang="en-US" dirty="0">
                <a:solidFill>
                  <a:srgbClr val="7030A0"/>
                </a:solidFill>
              </a:rPr>
              <a:t>𝑎</a:t>
            </a:r>
            <a:r>
              <a:rPr lang="en-US" dirty="0"/>
              <a:t> is a </a:t>
            </a:r>
            <a:r>
              <a:rPr lang="en-US" dirty="0">
                <a:solidFill>
                  <a:srgbClr val="92D050"/>
                </a:solidFill>
              </a:rPr>
              <a:t>Fermat witness </a:t>
            </a:r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𝑛</a:t>
            </a:r>
            <a:r>
              <a:rPr lang="en-US" dirty="0"/>
              <a:t> but NOT a </a:t>
            </a:r>
            <a:r>
              <a:rPr lang="en-US" dirty="0">
                <a:solidFill>
                  <a:srgbClr val="C00000"/>
                </a:solidFill>
              </a:rPr>
              <a:t>GCD witness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b="1" dirty="0" err="1"/>
              <a:t>gcd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𝑎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𝑛</a:t>
            </a:r>
            <a:r>
              <a:rPr lang="en-US" dirty="0"/>
              <a:t>) = 1).</a:t>
            </a:r>
          </a:p>
          <a:p>
            <a:r>
              <a:rPr lang="en-US" dirty="0"/>
              <a:t>Then </a:t>
            </a:r>
            <a:r>
              <a:rPr lang="en-US" b="1" dirty="0"/>
              <a:t>at least half</a:t>
            </a:r>
            <a:r>
              <a:rPr lang="en-US" dirty="0"/>
              <a:t> the elements of </a:t>
            </a:r>
            <a:r>
              <a:rPr lang="en-US" dirty="0">
                <a:solidFill>
                  <a:srgbClr val="FF0000"/>
                </a:solidFill>
              </a:rPr>
              <a:t>𝑆</a:t>
            </a:r>
            <a:r>
              <a:rPr lang="en-US" dirty="0"/>
              <a:t> are </a:t>
            </a:r>
            <a:r>
              <a:rPr lang="en-US" dirty="0">
                <a:solidFill>
                  <a:srgbClr val="92D050"/>
                </a:solidFill>
              </a:rPr>
              <a:t>Fermat witnesses</a:t>
            </a:r>
            <a:r>
              <a:rPr lang="en-US" dirty="0"/>
              <a:t> for </a:t>
            </a:r>
            <a:r>
              <a:rPr lang="en-US" dirty="0">
                <a:solidFill>
                  <a:srgbClr val="0070C0"/>
                </a:solidFill>
              </a:rPr>
              <a:t>𝑛.</a:t>
            </a:r>
          </a:p>
          <a:p>
            <a:endParaRPr lang="en-US" sz="1800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Observe: </a:t>
            </a:r>
            <a:r>
              <a:rPr lang="en-US" dirty="0"/>
              <a:t>Even if there is just one </a:t>
            </a:r>
            <a:r>
              <a:rPr lang="en-US" dirty="0">
                <a:solidFill>
                  <a:srgbClr val="C00000"/>
                </a:solidFill>
              </a:rPr>
              <a:t>non-GCD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Fermat Witness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/>
              <a:t>(also called </a:t>
            </a:r>
            <a:r>
              <a:rPr lang="en-US" dirty="0">
                <a:solidFill>
                  <a:srgbClr val="C00000"/>
                </a:solidFill>
              </a:rPr>
              <a:t>Non-trivial Fermat </a:t>
            </a:r>
          </a:p>
          <a:p>
            <a:r>
              <a:rPr lang="en-US" dirty="0">
                <a:solidFill>
                  <a:srgbClr val="C00000"/>
                </a:solidFill>
              </a:rPr>
              <a:t>Witness</a:t>
            </a:r>
            <a:r>
              <a:rPr lang="en-US" dirty="0"/>
              <a:t>)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, then there are plenty of  </a:t>
            </a:r>
            <a:r>
              <a:rPr lang="en-US" dirty="0">
                <a:solidFill>
                  <a:srgbClr val="92D050"/>
                </a:solidFill>
              </a:rPr>
              <a:t>Fermat Witnesses </a:t>
            </a:r>
            <a:r>
              <a:rPr lang="en-US" dirty="0"/>
              <a:t>for</a:t>
            </a:r>
            <a:r>
              <a:rPr lang="en-US" dirty="0">
                <a:solidFill>
                  <a:srgbClr val="0070C0"/>
                </a:solidFill>
              </a:rPr>
              <a:t> n. </a:t>
            </a:r>
          </a:p>
          <a:p>
            <a:endParaRPr lang="en-US" sz="1800" dirty="0">
              <a:solidFill>
                <a:srgbClr val="0070C0"/>
              </a:solidFill>
            </a:endParaRPr>
          </a:p>
          <a:p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Cloud Callout 6">
            <a:extLst>
              <a:ext uri="{FF2B5EF4-FFF2-40B4-BE49-F238E27FC236}">
                <a16:creationId xmlns:a16="http://schemas.microsoft.com/office/drawing/2014/main" id="{CBB9320A-2B22-EEDC-217A-627F37F06C6B}"/>
              </a:ext>
            </a:extLst>
          </p:cNvPr>
          <p:cNvSpPr/>
          <p:nvPr/>
        </p:nvSpPr>
        <p:spPr>
          <a:xfrm>
            <a:off x="2133600" y="3213200"/>
            <a:ext cx="6361545" cy="1816000"/>
          </a:xfrm>
          <a:prstGeom prst="cloudCallout">
            <a:avLst>
              <a:gd name="adj1" fmla="val -24784"/>
              <a:gd name="adj2" fmla="val 7383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7030A0"/>
                </a:solidFill>
              </a:rPr>
              <a:t> What about those numbers who have </a:t>
            </a:r>
            <a:r>
              <a:rPr lang="en-US" b="1" i="1" dirty="0">
                <a:solidFill>
                  <a:srgbClr val="7030A0"/>
                </a:solidFill>
              </a:rPr>
              <a:t>ZERO</a:t>
            </a:r>
            <a:r>
              <a:rPr lang="en-US" i="1" dirty="0">
                <a:solidFill>
                  <a:srgbClr val="7030A0"/>
                </a:solidFill>
              </a:rPr>
              <a:t> Non-Trivial Fermat Witnesses ? 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Let’s find out </a:t>
            </a:r>
          </a:p>
        </p:txBody>
      </p:sp>
    </p:spTree>
    <p:extLst>
      <p:ext uri="{BB962C8B-B14F-4D97-AF65-F5344CB8AC3E}">
        <p14:creationId xmlns:p14="http://schemas.microsoft.com/office/powerpoint/2010/main" val="3315599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61A6A-D1C7-0154-0E29-CB58681E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6BD0A5-745D-EAF3-F29E-1059BED3186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Carmichael Numbers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63FD24-D785-FB4B-C9D3-8BABE09B3B71}"/>
                  </a:ext>
                </a:extLst>
              </p:cNvPr>
              <p:cNvSpPr txBox="1"/>
              <p:nvPr/>
            </p:nvSpPr>
            <p:spPr>
              <a:xfrm>
                <a:off x="281709" y="1066800"/>
                <a:ext cx="8382000" cy="674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: </a:t>
                </a:r>
                <a:endParaRPr lang="en-US" dirty="0"/>
              </a:p>
              <a:p>
                <a:r>
                  <a:rPr lang="en-IN" dirty="0"/>
                  <a:t>A </a:t>
                </a:r>
                <a:r>
                  <a:rPr lang="en-IN" dirty="0">
                    <a:solidFill>
                      <a:srgbClr val="7030A0"/>
                    </a:solidFill>
                  </a:rPr>
                  <a:t>Carmichael number </a:t>
                </a:r>
                <a:r>
                  <a:rPr lang="en-IN" dirty="0"/>
                  <a:t>is a composite integer </a:t>
                </a:r>
                <a:r>
                  <a:rPr lang="en-IN" dirty="0">
                    <a:solidFill>
                      <a:srgbClr val="0070C0"/>
                    </a:solidFill>
                  </a:rPr>
                  <a:t>𝑛</a:t>
                </a:r>
                <a:r>
                  <a:rPr lang="en-IN" dirty="0"/>
                  <a:t> such that, ∀</a:t>
                </a:r>
                <a:r>
                  <a:rPr lang="en-IN" dirty="0">
                    <a:solidFill>
                      <a:srgbClr val="7030A0"/>
                    </a:solidFill>
                  </a:rPr>
                  <a:t>𝑎 </a:t>
                </a:r>
                <a:r>
                  <a:rPr lang="en-IN" dirty="0"/>
                  <a:t>∈ </a:t>
                </a:r>
                <a:r>
                  <a:rPr lang="en-IN" dirty="0">
                    <a:solidFill>
                      <a:srgbClr val="FF0000"/>
                    </a:solidFill>
                  </a:rPr>
                  <a:t>𝑆</a:t>
                </a:r>
                <a:r>
                  <a:rPr lang="en-IN" dirty="0"/>
                  <a:t> = {1,2,3,...,𝑛 −1}:</a:t>
                </a:r>
              </a:p>
              <a:p>
                <a:r>
                  <a:rPr lang="en-IN" dirty="0"/>
                  <a:t>  		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gcd</m:t>
                    </m:r>
                    <m:r>
                      <m:rPr>
                        <m:nor/>
                      </m:rPr>
                      <a:rPr lang="en-IN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b="1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IN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IN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, 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b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b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  <m:r>
                      <m:rPr>
                        <m:nor/>
                      </m:rPr>
                      <a:rPr lang="en-US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IN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First few </a:t>
                </a:r>
                <a:r>
                  <a:rPr lang="en-US" dirty="0">
                    <a:solidFill>
                      <a:srgbClr val="7030A0"/>
                    </a:solidFill>
                  </a:rPr>
                  <a:t>Carmichael numbers </a:t>
                </a:r>
                <a:r>
                  <a:rPr lang="en-US" dirty="0"/>
                  <a:t>are : 561, 1105, 1729 ……</a:t>
                </a:r>
              </a:p>
              <a:p>
                <a:r>
                  <a:rPr lang="en-US" b="1" dirty="0">
                    <a:solidFill>
                      <a:srgbClr val="00B050"/>
                    </a:solidFill>
                  </a:rPr>
                  <a:t>Some Interesting Properties of Carmichael Numbers: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Each </a:t>
                </a:r>
                <a:r>
                  <a:rPr lang="en-US" dirty="0">
                    <a:solidFill>
                      <a:srgbClr val="7030A0"/>
                    </a:solidFill>
                  </a:rPr>
                  <a:t>Carmichael number</a:t>
                </a:r>
                <a:r>
                  <a:rPr lang="en-US" dirty="0"/>
                  <a:t> is </a:t>
                </a:r>
                <a:r>
                  <a:rPr lang="en-US" b="1" dirty="0"/>
                  <a:t>odd</a:t>
                </a:r>
                <a:r>
                  <a:rPr lang="en-US" dirty="0"/>
                  <a:t> and has </a:t>
                </a:r>
                <a:r>
                  <a:rPr lang="en-US" b="1" dirty="0"/>
                  <a:t>at least 3</a:t>
                </a:r>
                <a:r>
                  <a:rPr lang="en-US" dirty="0"/>
                  <a:t> distinct prime factors.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They are not divisible by the square of any prime (they are square free).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every </a:t>
                </a:r>
                <a:r>
                  <a:rPr lang="en-US" dirty="0">
                    <a:solidFill>
                      <a:srgbClr val="7030A0"/>
                    </a:solidFill>
                  </a:rPr>
                  <a:t>Carmichael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n</a:t>
                </a:r>
                <a:r>
                  <a:rPr lang="en-US" dirty="0"/>
                  <a:t> with prime factor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p</a:t>
                </a:r>
                <a:r>
                  <a:rPr lang="en-US" dirty="0"/>
                  <a:t>, it holds that </a:t>
                </a:r>
                <a:r>
                  <a:rPr lang="en-IN" dirty="0"/>
                  <a:t> </a:t>
                </a:r>
                <a:r>
                  <a:rPr lang="en-IN" dirty="0">
                    <a:solidFill>
                      <a:schemeClr val="accent6">
                        <a:lumMod val="75000"/>
                      </a:schemeClr>
                    </a:solidFill>
                  </a:rPr>
                  <a:t>p-1</a:t>
                </a:r>
                <a:r>
                  <a:rPr lang="en-IN" dirty="0">
                    <a:solidFill>
                      <a:srgbClr val="FFC000"/>
                    </a:solidFill>
                  </a:rPr>
                  <a:t> </a:t>
                </a:r>
                <a:r>
                  <a:rPr lang="en-IN" dirty="0"/>
                  <a:t>ǀ </a:t>
                </a:r>
                <a:r>
                  <a:rPr lang="en-IN" dirty="0">
                    <a:solidFill>
                      <a:srgbClr val="00B0F0"/>
                    </a:solidFill>
                  </a:rPr>
                  <a:t>𝑛-1.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There are infinite </a:t>
                </a:r>
                <a:r>
                  <a:rPr lang="en-IN" dirty="0">
                    <a:solidFill>
                      <a:srgbClr val="7030A0"/>
                    </a:solidFill>
                  </a:rPr>
                  <a:t>Carmichael Numbers.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Since this definition holds for all </a:t>
                </a:r>
                <a:r>
                  <a:rPr lang="en-IN" dirty="0">
                    <a:solidFill>
                      <a:srgbClr val="7030A0"/>
                    </a:solidFill>
                  </a:rPr>
                  <a:t>𝑎 </a:t>
                </a:r>
                <a:r>
                  <a:rPr lang="en-IN" dirty="0"/>
                  <a:t>∈ </a:t>
                </a:r>
                <a:r>
                  <a:rPr lang="en-IN" dirty="0">
                    <a:solidFill>
                      <a:srgbClr val="FF0000"/>
                    </a:solidFill>
                  </a:rPr>
                  <a:t>𝑆</a:t>
                </a:r>
                <a:r>
                  <a:rPr lang="en-IN" dirty="0"/>
                  <a:t> , therefore </a:t>
                </a:r>
                <a:r>
                  <a:rPr lang="en-IN" dirty="0">
                    <a:solidFill>
                      <a:srgbClr val="7030A0"/>
                    </a:solidFill>
                  </a:rPr>
                  <a:t>Carmichael numbers </a:t>
                </a:r>
                <a:r>
                  <a:rPr lang="en-IN" dirty="0"/>
                  <a:t>have:</a:t>
                </a:r>
              </a:p>
              <a:p>
                <a:r>
                  <a:rPr lang="en-IN" b="1" dirty="0"/>
                  <a:t>ZERO </a:t>
                </a:r>
                <a:r>
                  <a:rPr lang="en-US" dirty="0">
                    <a:solidFill>
                      <a:srgbClr val="C00000"/>
                    </a:solidFill>
                  </a:rPr>
                  <a:t>non-Trivial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Fermat Witnesses</a:t>
                </a:r>
                <a:r>
                  <a:rPr lang="en-US" dirty="0">
                    <a:solidFill>
                      <a:srgbClr val="92D050"/>
                    </a:solidFill>
                  </a:rPr>
                  <a:t> </a:t>
                </a:r>
                <a:r>
                  <a:rPr lang="en-US" dirty="0"/>
                  <a:t>for </a:t>
                </a:r>
                <a:r>
                  <a:rPr lang="en-US" dirty="0">
                    <a:solidFill>
                      <a:srgbClr val="0070C0"/>
                    </a:solidFill>
                  </a:rPr>
                  <a:t>n.</a:t>
                </a:r>
              </a:p>
              <a:p>
                <a:r>
                  <a:rPr lang="en-US" dirty="0"/>
                  <a:t>Let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/>
                  <a:t>be a set of </a:t>
                </a:r>
                <a:r>
                  <a:rPr lang="en-US" dirty="0">
                    <a:solidFill>
                      <a:srgbClr val="92D050"/>
                    </a:solidFill>
                  </a:rPr>
                  <a:t>Fermat witnesses</a:t>
                </a:r>
                <a:r>
                  <a:rPr lang="en-US" dirty="0"/>
                  <a:t> for </a:t>
                </a:r>
                <a:r>
                  <a:rPr lang="en-US" dirty="0">
                    <a:solidFill>
                      <a:srgbClr val="7030A0"/>
                    </a:solidFill>
                  </a:rPr>
                  <a:t>Carmichael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n</a:t>
                </a:r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/>
                  <a:t>be the set of </a:t>
                </a:r>
                <a:r>
                  <a:rPr lang="en-US" dirty="0">
                    <a:solidFill>
                      <a:srgbClr val="C00000"/>
                    </a:solidFill>
                  </a:rPr>
                  <a:t>GCD witnesses</a:t>
                </a:r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			           </a:t>
                </a:r>
                <a:r>
                  <a:rPr lang="en-US" dirty="0"/>
                  <a:t>Then,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sz="1800" dirty="0"/>
                  <a:t>Therefore, the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theorem 2</a:t>
                </a:r>
                <a:r>
                  <a:rPr lang="en-US" sz="1800" dirty="0"/>
                  <a:t> does not apply to </a:t>
                </a:r>
                <a:r>
                  <a:rPr lang="en-US" sz="1800" dirty="0">
                    <a:solidFill>
                      <a:srgbClr val="7030A0"/>
                    </a:solidFill>
                  </a:rPr>
                  <a:t>Carmichael numbers.</a:t>
                </a:r>
              </a:p>
              <a:p>
                <a:r>
                  <a:rPr lang="en-US" dirty="0"/>
                  <a:t>Hence, </a:t>
                </a:r>
                <a:r>
                  <a:rPr lang="en-US" dirty="0">
                    <a:solidFill>
                      <a:srgbClr val="7030A0"/>
                    </a:solidFill>
                  </a:rPr>
                  <a:t>Carmichael numbers </a:t>
                </a:r>
                <a:r>
                  <a:rPr lang="en-US" dirty="0"/>
                  <a:t>are likely to fail </a:t>
                </a:r>
                <a:r>
                  <a:rPr lang="en-US" b="1" dirty="0"/>
                  <a:t>Fermat Primality test </a:t>
                </a:r>
                <a:r>
                  <a:rPr lang="en-US" dirty="0"/>
                  <a:t>since the number of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GCD witnesses </a:t>
                </a:r>
                <a:r>
                  <a:rPr lang="en-US" dirty="0"/>
                  <a:t>is small compared to n.</a:t>
                </a:r>
                <a:endParaRPr lang="en-US" sz="1800" dirty="0"/>
              </a:p>
              <a:p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sz="1800" dirty="0"/>
              </a:p>
              <a:p>
                <a:endParaRPr lang="en-US" sz="1800" dirty="0">
                  <a:solidFill>
                    <a:srgbClr val="7030A0"/>
                  </a:solidFill>
                </a:endParaRPr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63FD24-D785-FB4B-C9D3-8BABE09B3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09" y="1066800"/>
                <a:ext cx="8382000" cy="6740307"/>
              </a:xfrm>
              <a:prstGeom prst="rect">
                <a:avLst/>
              </a:prstGeom>
              <a:blipFill>
                <a:blip r:embed="rId2"/>
                <a:stretch>
                  <a:fillRect l="-582" t="-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miley Face 6">
            <a:extLst>
              <a:ext uri="{FF2B5EF4-FFF2-40B4-BE49-F238E27FC236}">
                <a16:creationId xmlns:a16="http://schemas.microsoft.com/office/drawing/2014/main" id="{5746BA37-6ECE-B99E-4776-B796FC638410}"/>
              </a:ext>
            </a:extLst>
          </p:cNvPr>
          <p:cNvSpPr/>
          <p:nvPr/>
        </p:nvSpPr>
        <p:spPr>
          <a:xfrm>
            <a:off x="4343400" y="6051550"/>
            <a:ext cx="685800" cy="609600"/>
          </a:xfrm>
          <a:prstGeom prst="smileyFace">
            <a:avLst>
              <a:gd name="adj" fmla="val -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66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ADF00-26F0-99F1-A2FB-BBDA3E2F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647761-401C-20A2-0A14-2FF090A09B7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A new witness of Compositeness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374001-524B-75EC-9CDF-8AD2E23B7F34}"/>
                  </a:ext>
                </a:extLst>
              </p:cNvPr>
              <p:cNvSpPr txBox="1"/>
              <p:nvPr/>
            </p:nvSpPr>
            <p:spPr>
              <a:xfrm>
                <a:off x="381000" y="990600"/>
                <a:ext cx="8229600" cy="5693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</a:rPr>
                  <a:t>Theorem 3:</a:t>
                </a:r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is prime, then all </a:t>
                </a:r>
                <a:r>
                  <a:rPr lang="en-US" sz="2000" i="1" dirty="0"/>
                  <a:t>integer roots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000" dirty="0"/>
                  <a:t>satisfy:</a:t>
                </a: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="1" dirty="0">
                    <a:solidFill>
                      <a:srgbClr val="00B050"/>
                    </a:solidFill>
                  </a:rPr>
                  <a:t>  </a:t>
                </a:r>
                <a:r>
                  <a:rPr lang="en-US" sz="2000" dirty="0"/>
                  <a:t>OR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endParaRPr lang="en-US" sz="2000" b="1" dirty="0">
                  <a:solidFill>
                    <a:srgbClr val="00B050"/>
                  </a:solidFill>
                </a:endParaRPr>
              </a:p>
              <a:p>
                <a:r>
                  <a:rPr lang="en-US" sz="2000" b="1" dirty="0">
                    <a:solidFill>
                      <a:srgbClr val="00B050"/>
                    </a:solidFill>
                  </a:rPr>
                  <a:t>Corollary: </a:t>
                </a:r>
                <a:r>
                  <a:rPr lang="en-US" sz="2000" dirty="0"/>
                  <a:t>Given integers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IN" sz="2000" b="1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dirty="0">
                    <a:solidFill>
                      <a:srgbClr val="00B050"/>
                    </a:solidFill>
                  </a:rPr>
                  <a:t> 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must be composite.</a:t>
                </a:r>
              </a:p>
              <a:p>
                <a:endParaRPr lang="en-US" sz="2000" dirty="0"/>
              </a:p>
              <a:p>
                <a:r>
                  <a:rPr lang="en-US" sz="2000" dirty="0">
                    <a:solidFill>
                      <a:srgbClr val="00B050"/>
                    </a:solidFill>
                  </a:rPr>
                  <a:t>Trivial</a:t>
                </a:r>
                <a:r>
                  <a:rPr lang="en-US" sz="2000" dirty="0"/>
                  <a:t> and </a:t>
                </a:r>
                <a:r>
                  <a:rPr lang="en-US" sz="2000" dirty="0">
                    <a:solidFill>
                      <a:srgbClr val="FF0000"/>
                    </a:solidFill>
                  </a:rPr>
                  <a:t>Non-trivial</a:t>
                </a:r>
                <a:r>
                  <a:rPr lang="en-US" sz="2000" dirty="0"/>
                  <a:t> roots: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sz="200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are </a:t>
                </a:r>
                <a:r>
                  <a:rPr lang="en-US" sz="2000" dirty="0">
                    <a:solidFill>
                      <a:srgbClr val="00B050"/>
                    </a:solidFill>
                  </a:rPr>
                  <a:t>trivial roots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pt-BR" sz="200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are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non-trivial roots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Root Witness: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Definition: </a:t>
                </a:r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composite. We say that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a root witness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/>
                  <a:t>’s compositeness,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≢±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.</a:t>
                </a:r>
              </a:p>
              <a:p>
                <a:r>
                  <a:rPr lang="en-US" sz="2000" dirty="0"/>
                  <a:t>Observe that a root witness is a </a:t>
                </a:r>
                <a:r>
                  <a:rPr lang="en-US" sz="2000" dirty="0">
                    <a:solidFill>
                      <a:srgbClr val="FF0000"/>
                    </a:solidFill>
                  </a:rPr>
                  <a:t>non-trivial root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374001-524B-75EC-9CDF-8AD2E23B7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90600"/>
                <a:ext cx="8229600" cy="5693866"/>
              </a:xfrm>
              <a:prstGeom prst="rect">
                <a:avLst/>
              </a:prstGeom>
              <a:blipFill>
                <a:blip r:embed="rId2"/>
                <a:stretch>
                  <a:fillRect l="-1185" t="-6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3F7F9C3-73DF-CEC9-D2F1-70C43161579E}"/>
              </a:ext>
            </a:extLst>
          </p:cNvPr>
          <p:cNvSpPr/>
          <p:nvPr/>
        </p:nvSpPr>
        <p:spPr>
          <a:xfrm>
            <a:off x="2057400" y="5029200"/>
            <a:ext cx="4876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8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uiExpan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A32112-0898-AE94-63F4-2B9EC20F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B465E1-CD60-6685-0096-E715F1148654}"/>
              </a:ext>
            </a:extLst>
          </p:cNvPr>
          <p:cNvSpPr txBox="1">
            <a:spLocks/>
          </p:cNvSpPr>
          <p:nvPr/>
        </p:nvSpPr>
        <p:spPr>
          <a:xfrm>
            <a:off x="304800" y="13652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An Idea 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9AA7C8-179A-D628-89A9-0DC02E839793}"/>
                  </a:ext>
                </a:extLst>
              </p:cNvPr>
              <p:cNvSpPr txBox="1"/>
              <p:nvPr/>
            </p:nvSpPr>
            <p:spPr>
              <a:xfrm>
                <a:off x="304800" y="838200"/>
                <a:ext cx="8839200" cy="5968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b="1" dirty="0"/>
                  <a:t>Fermat Primality Test</a:t>
                </a:r>
                <a:r>
                  <a:rPr lang="en-US" sz="2000" dirty="0"/>
                  <a:t> uses only </a:t>
                </a:r>
                <a:r>
                  <a:rPr lang="en-US" sz="2000" dirty="0">
                    <a:solidFill>
                      <a:srgbClr val="92D050"/>
                    </a:solidFill>
                  </a:rPr>
                  <a:t>Fermat Witness </a:t>
                </a:r>
                <a:r>
                  <a:rPr lang="en-US" sz="2000" dirty="0"/>
                  <a:t>to identify if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prime.</a:t>
                </a:r>
              </a:p>
              <a:p>
                <a:r>
                  <a:rPr lang="en-US" sz="2000" dirty="0"/>
                  <a:t>But now we have 2 type of witnesses: </a:t>
                </a:r>
                <a:r>
                  <a:rPr lang="en-US" sz="2000" dirty="0">
                    <a:solidFill>
                      <a:srgbClr val="92D050"/>
                    </a:solidFill>
                  </a:rPr>
                  <a:t>Fermat Witness </a:t>
                </a:r>
                <a:r>
                  <a:rPr lang="en-US" sz="2000" dirty="0"/>
                  <a:t>and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Root Witness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The idea is to use both of these witnesses to check primality.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basic step of </a:t>
                </a:r>
                <a:r>
                  <a:rPr lang="en-US" sz="2000" b="1" dirty="0"/>
                  <a:t>randomization</a:t>
                </a:r>
                <a:r>
                  <a:rPr lang="en-US" sz="2000" dirty="0"/>
                  <a:t> remains the same:</a:t>
                </a:r>
              </a:p>
              <a:p>
                <a:r>
                  <a:rPr lang="en-IN" sz="2000" dirty="0"/>
                  <a:t>Choose </a:t>
                </a:r>
                <a:r>
                  <a:rPr lang="en-IN" sz="2000" dirty="0">
                    <a:solidFill>
                      <a:srgbClr val="7030A0"/>
                    </a:solidFill>
                  </a:rPr>
                  <a:t>𝑎 </a:t>
                </a:r>
                <a:r>
                  <a:rPr lang="en-IN" sz="2000" dirty="0"/>
                  <a:t> ∈ </a:t>
                </a:r>
                <a:r>
                  <a:rPr lang="en-IN" sz="2000" dirty="0">
                    <a:solidFill>
                      <a:srgbClr val="FF0000"/>
                    </a:solidFill>
                  </a:rPr>
                  <a:t>𝑆</a:t>
                </a:r>
                <a:r>
                  <a:rPr lang="en-IN" sz="2000" dirty="0"/>
                  <a:t> = {1,2,3,...,𝑛 −1} uniformly at random.</a:t>
                </a:r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sz="2000" dirty="0"/>
                  <a:t> and that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odd , because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even ,immediately output that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COMPOSITE.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Since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odd,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must be even and contain </a:t>
                </a:r>
                <a:r>
                  <a:rPr lang="en-US" sz="2000" b="1" dirty="0"/>
                  <a:t>at least </a:t>
                </a:r>
                <a:r>
                  <a:rPr lang="en-US" sz="2000" dirty="0"/>
                  <a:t>one factor of 2.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−1=2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pt-BR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, where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 is number of factors of 2 in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is odd.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If </a:t>
                </a:r>
                <a:r>
                  <a:rPr lang="en-IN" sz="2000" dirty="0">
                    <a:solidFill>
                      <a:srgbClr val="7030A0"/>
                    </a:solidFill>
                  </a:rPr>
                  <a:t>𝑎 </a:t>
                </a:r>
                <a:r>
                  <a:rPr lang="en-US" sz="2000" dirty="0"/>
                  <a:t>is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then we have a Fermat witness of compositeness.</a:t>
                </a:r>
              </a:p>
              <a:p>
                <a:r>
                  <a:rPr lang="en-US" sz="2000" dirty="0"/>
                  <a:t>Hence, we output that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COMPOSITE and we are done.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9AA7C8-179A-D628-89A9-0DC02E839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838200"/>
                <a:ext cx="8839200" cy="5968429"/>
              </a:xfrm>
              <a:prstGeom prst="rect">
                <a:avLst/>
              </a:prstGeom>
              <a:blipFill>
                <a:blip r:embed="rId2"/>
                <a:stretch>
                  <a:fillRect l="-690" t="-613" r="-6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3CE833-D955-FB2F-532B-383F26F63512}"/>
                  </a:ext>
                </a:extLst>
              </p:cNvPr>
              <p:cNvSpPr txBox="1"/>
              <p:nvPr/>
            </p:nvSpPr>
            <p:spPr>
              <a:xfrm>
                <a:off x="1495829" y="5540300"/>
                <a:ext cx="5590771" cy="46205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/>
                  <a:t>But what if </a:t>
                </a:r>
                <a:r>
                  <a:rPr lang="en-IN" sz="2200" dirty="0">
                    <a:solidFill>
                      <a:srgbClr val="7030A0"/>
                    </a:solidFill>
                  </a:rPr>
                  <a:t>𝑎 </a:t>
                </a:r>
                <a:r>
                  <a:rPr lang="en-US" sz="2200" dirty="0"/>
                  <a:t>is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2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2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?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3CE833-D955-FB2F-532B-383F26F63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829" y="5540300"/>
                <a:ext cx="5590771" cy="462050"/>
              </a:xfrm>
              <a:prstGeom prst="rect">
                <a:avLst/>
              </a:prstGeom>
              <a:blipFill>
                <a:blip r:embed="rId3"/>
                <a:stretch>
                  <a:fillRect t="-3846" b="-2307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62DF463-050F-8CAE-B1B1-DA4009C126F6}"/>
              </a:ext>
            </a:extLst>
          </p:cNvPr>
          <p:cNvSpPr/>
          <p:nvPr/>
        </p:nvSpPr>
        <p:spPr>
          <a:xfrm>
            <a:off x="1981200" y="4278821"/>
            <a:ext cx="4876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A1D83-9170-AC3D-B683-F19DF6975FDF}"/>
              </a:ext>
            </a:extLst>
          </p:cNvPr>
          <p:cNvSpPr/>
          <p:nvPr/>
        </p:nvSpPr>
        <p:spPr>
          <a:xfrm>
            <a:off x="6934200" y="4251112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3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uiExpand="1" animBg="1"/>
      <p:bldP spid="7" grpId="0" uiExpan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BDE380-75C3-5451-5CE6-4818007F1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59C20B-0B66-E3A4-7C5D-D4C036D9A201}"/>
              </a:ext>
            </a:extLst>
          </p:cNvPr>
          <p:cNvSpPr txBox="1">
            <a:spLocks/>
          </p:cNvSpPr>
          <p:nvPr/>
        </p:nvSpPr>
        <p:spPr>
          <a:xfrm>
            <a:off x="304800" y="13652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Building the Algorithm 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3A497D-D130-3C04-A721-0EE84E5E8D47}"/>
                  </a:ext>
                </a:extLst>
              </p:cNvPr>
              <p:cNvSpPr txBox="1"/>
              <p:nvPr/>
            </p:nvSpPr>
            <p:spPr>
              <a:xfrm>
                <a:off x="304800" y="838200"/>
                <a:ext cx="8839200" cy="4820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000" dirty="0"/>
                  <a:t>Suppose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We can rewrite this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since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IN" sz="200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And now we check if this equation has a </a:t>
                </a:r>
                <a:r>
                  <a:rPr lang="en-US" sz="2000" dirty="0">
                    <a:solidFill>
                      <a:srgbClr val="C00000"/>
                    </a:solidFill>
                  </a:rPr>
                  <a:t>non-trivial</a:t>
                </a:r>
                <a:r>
                  <a:rPr lang="en-US" sz="2000" dirty="0"/>
                  <a:t> root, that is, </a:t>
                </a:r>
              </a:p>
              <a:p>
                <a:r>
                  <a:rPr lang="en-IN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≢</m:t>
                    </m:r>
                    <m:d>
                      <m:dPr>
                        <m:begChr m:val="{"/>
                        <m:endChr m:val="}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then we have found a root witness of compositeness.</a:t>
                </a:r>
              </a:p>
              <a:p>
                <a:r>
                  <a:rPr lang="en-US" sz="2000" dirty="0"/>
                  <a:t>Hence, we output that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COMPOSITE and we are done.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3A497D-D130-3C04-A721-0EE84E5E8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838200"/>
                <a:ext cx="8839200" cy="4820550"/>
              </a:xfrm>
              <a:prstGeom prst="rect">
                <a:avLst/>
              </a:prstGeom>
              <a:blipFill>
                <a:blip r:embed="rId2"/>
                <a:stretch>
                  <a:fillRect l="-690" t="-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904DC93-3D48-A4BF-151C-B980DCBEB103}"/>
              </a:ext>
            </a:extLst>
          </p:cNvPr>
          <p:cNvSpPr txBox="1"/>
          <p:nvPr/>
        </p:nvSpPr>
        <p:spPr>
          <a:xfrm>
            <a:off x="4038600" y="1094859"/>
            <a:ext cx="355565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Try to think it as a square equation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DC54D-33D2-C888-60D7-762A7F973569}"/>
                  </a:ext>
                </a:extLst>
              </p:cNvPr>
              <p:cNvSpPr txBox="1"/>
              <p:nvPr/>
            </p:nvSpPr>
            <p:spPr>
              <a:xfrm>
                <a:off x="1776614" y="3222082"/>
                <a:ext cx="5590771" cy="476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/>
                  <a:t>What if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2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,−1}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?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DC54D-33D2-C888-60D7-762A7F973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614" y="3222082"/>
                <a:ext cx="5590771" cy="476669"/>
              </a:xfrm>
              <a:prstGeom prst="rect">
                <a:avLst/>
              </a:prstGeom>
              <a:blipFill>
                <a:blip r:embed="rId3"/>
                <a:stretch>
                  <a:fillRect b="-237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689883B-A7FD-ADA8-06EB-0923397E8E89}"/>
                  </a:ext>
                </a:extLst>
              </p:cNvPr>
              <p:cNvSpPr/>
              <p:nvPr/>
            </p:nvSpPr>
            <p:spPr>
              <a:xfrm>
                <a:off x="228600" y="4486406"/>
                <a:ext cx="3657600" cy="1981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IN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pt-BR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IN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IN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9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9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IN" dirty="0">
                    <a:solidFill>
                      <a:schemeClr val="bg2">
                        <a:lumMod val="10000"/>
                      </a:schemeClr>
                    </a:solidFill>
                  </a:rPr>
                  <a:t>If</a:t>
                </a:r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−1&gt;0</m:t>
                    </m:r>
                  </m:oMath>
                </a14:m>
                <a:r>
                  <a:rPr lang="en-IN" dirty="0">
                    <a:solidFill>
                      <a:schemeClr val="bg2">
                        <a:lumMod val="10000"/>
                      </a:schemeClr>
                    </a:solidFill>
                  </a:rPr>
                  <a:t>, we get another chance to find a root witness of compositeness</a:t>
                </a: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689883B-A7FD-ADA8-06EB-0923397E8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486406"/>
                <a:ext cx="3657600" cy="19812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FAD6ECA-CCFC-7FFF-ABB2-2FFBCD6D0183}"/>
                  </a:ext>
                </a:extLst>
              </p:cNvPr>
              <p:cNvSpPr/>
              <p:nvPr/>
            </p:nvSpPr>
            <p:spPr>
              <a:xfrm>
                <a:off x="4953000" y="4486406"/>
                <a:ext cx="3581400" cy="19812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IN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pt-BR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IN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IN" sz="19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9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9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IN" dirty="0">
                    <a:solidFill>
                      <a:schemeClr val="bg2">
                        <a:lumMod val="10000"/>
                      </a:schemeClr>
                    </a:solidFill>
                  </a:rPr>
                  <a:t>In this case we are done testing.</a:t>
                </a:r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Since we have not found any witness , return “probably prime”.</a:t>
                </a:r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FAD6ECA-CCFC-7FFF-ABB2-2FFBCD6D0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486406"/>
                <a:ext cx="3581400" cy="19812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CDEA41-F48B-E0A6-B71B-38CD7CEA4DB6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2057400" y="3698751"/>
            <a:ext cx="2514600" cy="787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9BBCD5-EDFF-87BF-A1C3-530A418B02AE}"/>
              </a:ext>
            </a:extLst>
          </p:cNvPr>
          <p:cNvCxnSpPr>
            <a:endCxn id="8" idx="0"/>
          </p:cNvCxnSpPr>
          <p:nvPr/>
        </p:nvCxnSpPr>
        <p:spPr>
          <a:xfrm>
            <a:off x="4571999" y="3698751"/>
            <a:ext cx="2171701" cy="787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92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AD64FD-780E-A8CC-C6B3-F1CDEFBB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2E5697-0019-2DAD-AD99-867F87708A64}"/>
              </a:ext>
            </a:extLst>
          </p:cNvPr>
          <p:cNvSpPr txBox="1">
            <a:spLocks/>
          </p:cNvSpPr>
          <p:nvPr/>
        </p:nvSpPr>
        <p:spPr>
          <a:xfrm>
            <a:off x="304800" y="13652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Miller-Rabin Primality Test 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0C2D44-79F6-FB85-FD39-ABE40F4D6C25}"/>
                  </a:ext>
                </a:extLst>
              </p:cNvPr>
              <p:cNvSpPr txBox="1"/>
              <p:nvPr/>
            </p:nvSpPr>
            <p:spPr>
              <a:xfrm>
                <a:off x="152400" y="914400"/>
                <a:ext cx="8382000" cy="732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there be a </a:t>
                </a:r>
                <a:r>
                  <a:rPr lang="en-US" dirty="0">
                    <a:solidFill>
                      <a:srgbClr val="00B050"/>
                    </a:solidFill>
                  </a:rPr>
                  <a:t>m bit</a:t>
                </a:r>
                <a:r>
                  <a:rPr lang="en-US" dirty="0"/>
                  <a:t> </a:t>
                </a:r>
                <a:r>
                  <a:rPr lang="en-US" b="1" dirty="0"/>
                  <a:t>odd</a:t>
                </a:r>
                <a:r>
                  <a:rPr lang="en-US" dirty="0"/>
                  <a:t> integer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, </a:t>
                </a:r>
                <a:r>
                  <a:rPr lang="en-US" dirty="0"/>
                  <a:t>which we wish to classify as prime or composite.</a:t>
                </a:r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  <a:p>
                <a:r>
                  <a:rPr lang="en-US" sz="2000" b="1" dirty="0">
                    <a:solidFill>
                      <a:srgbClr val="006C31"/>
                    </a:solidFill>
                  </a:rPr>
                  <a:t>Miller-Rabin-Primality-Test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{</a:t>
                </a:r>
                <a:endParaRPr lang="en-US" sz="2000" dirty="0"/>
              </a:p>
              <a:p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/>
                  <a:t>Assign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dirty="0">
                    <a:sym typeface="Wingdings" pitchFamily="2" charset="2"/>
                  </a:rPr>
                  <a:t>0;</a:t>
                </a:r>
              </a:p>
              <a:p>
                <a:r>
                  <a:rPr lang="en-US" sz="1800" b="1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2.</a:t>
                </a:r>
                <a:r>
                  <a:rPr lang="en-US" sz="1800" dirty="0">
                    <a:sym typeface="Wingdings" pitchFamily="2" charset="2"/>
                  </a:rPr>
                  <a:t> Express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−1=2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for some odd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Repeat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b="1" dirty="0"/>
                  <a:t> times</a:t>
                </a:r>
              </a:p>
              <a:p>
                <a:pPr marL="0" indent="0">
                  <a:buNone/>
                </a:pPr>
                <a:r>
                  <a:rPr lang="en-US" b="1" dirty="0"/>
                  <a:t>{ </a:t>
                </a:r>
                <a:r>
                  <a:rPr lang="en-US" dirty="0"/>
                  <a:t>   1. </a:t>
                </a:r>
                <a:r>
                  <a:rPr lang="en-IN" dirty="0"/>
                  <a:t>Choose </a:t>
                </a:r>
                <a:r>
                  <a:rPr lang="en-IN" dirty="0">
                    <a:solidFill>
                      <a:srgbClr val="7030A0"/>
                    </a:solidFill>
                  </a:rPr>
                  <a:t>𝑎</a:t>
                </a:r>
                <a:r>
                  <a:rPr lang="en-IN" dirty="0"/>
                  <a:t> ∈ </a:t>
                </a:r>
                <a:r>
                  <a:rPr lang="en-IN" dirty="0">
                    <a:solidFill>
                      <a:srgbClr val="FF0000"/>
                    </a:solidFill>
                  </a:rPr>
                  <a:t>𝑆</a:t>
                </a:r>
                <a:r>
                  <a:rPr lang="en-IN" dirty="0"/>
                  <a:t> = {1,2,3,...,𝑛 −1} uniformly at random;</a:t>
                </a:r>
              </a:p>
              <a:p>
                <a:pPr marL="0" indent="0">
                  <a:buNone/>
                </a:pPr>
                <a:r>
                  <a:rPr lang="en-IN" dirty="0"/>
                  <a:t>      2.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,</a:t>
                </a:r>
                <a:r>
                  <a:rPr lang="en-US" dirty="0"/>
                  <a:t>return COMPOSITE, assign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 1 &amp; End Algorithm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      3.  </a:t>
                </a:r>
                <a:r>
                  <a:rPr lang="en-US" b="1" dirty="0"/>
                  <a:t>for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	:</a:t>
                </a:r>
              </a:p>
              <a:p>
                <a:pPr marL="0" indent="0">
                  <a:buNone/>
                </a:pPr>
                <a:r>
                  <a:rPr lang="en-US" dirty="0"/>
                  <a:t>           {	(</a:t>
                </a:r>
                <a:r>
                  <a:rPr lang="en-US" dirty="0" err="1"/>
                  <a:t>i</a:t>
                </a:r>
                <a:r>
                  <a:rPr lang="en-US" dirty="0"/>
                  <a:t>)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</a:rPr>
                      <m:t>≢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,−1</m:t>
                        </m:r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return COMPOSITE, assign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 1 &amp; End Algorithm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	(ii)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, assign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 0 and exit the </a:t>
                </a:r>
                <a:r>
                  <a:rPr lang="en-US" b="1" dirty="0">
                    <a:sym typeface="Wingdings" pitchFamily="2" charset="2"/>
                  </a:rPr>
                  <a:t>for</a:t>
                </a:r>
                <a:r>
                  <a:rPr lang="en-US" dirty="0">
                    <a:sym typeface="Wingdings" pitchFamily="2" charset="2"/>
                  </a:rPr>
                  <a:t> loop;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(iii)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, assign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 0; </a:t>
                </a:r>
                <a:r>
                  <a:rPr lang="en-US" dirty="0">
                    <a:solidFill>
                      <a:srgbClr val="00B050"/>
                    </a:solidFill>
                    <a:sym typeface="Wingdings" pitchFamily="2" charset="2"/>
                  </a:rPr>
                  <a:t>// We have another chance to find a</a:t>
                </a:r>
                <a:r>
                  <a:rPr lang="en-US" dirty="0">
                    <a:sym typeface="Wingdings" pitchFamily="2" charset="2"/>
                  </a:rPr>
                  <a:t> 					</a:t>
                </a:r>
                <a:r>
                  <a:rPr lang="en-US" dirty="0">
                    <a:solidFill>
                      <a:srgbClr val="00B050"/>
                    </a:solidFill>
                    <a:sym typeface="Wingdings" pitchFamily="2" charset="2"/>
                  </a:rPr>
                  <a:t>non-trivial root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  <a:p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3.</a:t>
                </a:r>
                <a:r>
                  <a:rPr lang="en-US" dirty="0">
                    <a:sym typeface="Wingdings" pitchFamily="2" charset="2"/>
                  </a:rPr>
                  <a:t> If(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 return PROBABLY PRIME;</a:t>
                </a:r>
              </a:p>
              <a:p>
                <a:r>
                  <a:rPr lang="en-US" sz="2000" b="1" dirty="0">
                    <a:solidFill>
                      <a:srgbClr val="006C31"/>
                    </a:solidFill>
                  </a:rPr>
                  <a:t>}</a:t>
                </a:r>
                <a:endParaRPr lang="en-US" sz="2000" dirty="0"/>
              </a:p>
              <a:p>
                <a:endParaRPr lang="en-US" sz="2000" dirty="0"/>
              </a:p>
              <a:p>
                <a:endParaRPr lang="en-US" dirty="0"/>
              </a:p>
              <a:p>
                <a:endParaRPr lang="en-US" b="1" dirty="0"/>
              </a:p>
              <a:p>
                <a:endParaRPr lang="en-US" sz="1800" b="1" dirty="0"/>
              </a:p>
              <a:p>
                <a:endParaRPr lang="en-US" sz="1800" dirty="0"/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0C2D44-79F6-FB85-FD39-ABE40F4D6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914400"/>
                <a:ext cx="8382000" cy="7323800"/>
              </a:xfrm>
              <a:prstGeom prst="rect">
                <a:avLst/>
              </a:prstGeom>
              <a:blipFill>
                <a:blip r:embed="rId2"/>
                <a:stretch>
                  <a:fillRect l="-727" t="-416" r="-5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974505-B2C0-84DB-21DF-8FA42777A755}"/>
                  </a:ext>
                </a:extLst>
              </p:cNvPr>
              <p:cNvSpPr txBox="1"/>
              <p:nvPr/>
            </p:nvSpPr>
            <p:spPr>
              <a:xfrm>
                <a:off x="152400" y="5984389"/>
                <a:ext cx="8799268" cy="67653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This algorithm can be optimized by starting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and then repeatedly squaring it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times,</a:t>
                </a:r>
              </a:p>
              <a:p>
                <a:r>
                  <a:rPr lang="en-US" dirty="0"/>
                  <a:t> instead of first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and then taking square roots.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974505-B2C0-84DB-21DF-8FA42777A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984389"/>
                <a:ext cx="8799268" cy="676532"/>
              </a:xfrm>
              <a:prstGeom prst="rect">
                <a:avLst/>
              </a:prstGeom>
              <a:blipFill>
                <a:blip r:embed="rId3"/>
                <a:stretch>
                  <a:fillRect l="-484" t="-3540" b="-123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88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7C5875-04C5-27C1-BAE6-8EC5A676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17C08C-89BE-B58D-22BB-5F1C04257558}"/>
              </a:ext>
            </a:extLst>
          </p:cNvPr>
          <p:cNvSpPr txBox="1">
            <a:spLocks/>
          </p:cNvSpPr>
          <p:nvPr/>
        </p:nvSpPr>
        <p:spPr>
          <a:xfrm>
            <a:off x="304800" y="13652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Analysis of the Algorithm  </a:t>
            </a:r>
            <a:endParaRPr lang="en-US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B8CB12-BB05-CDA4-4EB9-7DAA356565EB}"/>
                  </a:ext>
                </a:extLst>
              </p:cNvPr>
              <p:cNvSpPr txBox="1"/>
              <p:nvPr/>
            </p:nvSpPr>
            <p:spPr>
              <a:xfrm>
                <a:off x="190500" y="799044"/>
                <a:ext cx="8763000" cy="8854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</a:rPr>
                  <a:t>Running Time Analysis: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dirty="0"/>
                  <a:t>  takes </a:t>
                </a:r>
                <a:r>
                  <a:rPr lang="en-US" b="1" i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𝐥𝐨𝐠</m:t>
                    </m:r>
                    <m:r>
                      <a:rPr lang="en-US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I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) time in worst case since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 a single iteration, there are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rounds in the worst case and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of </a:t>
                </a:r>
                <a:r>
                  <a:rPr lang="en-US" b="1" i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𝐥𝐨𝐠</m:t>
                    </m:r>
                    <m:r>
                      <a:rPr lang="en-US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IN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rgbClr val="00B050"/>
                    </a:solidFill>
                  </a:rPr>
                  <a:t>m bit</a:t>
                </a:r>
                <a:r>
                  <a:rPr lang="en-US" dirty="0"/>
                  <a:t> integer, therefore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Therefore ,the running time of a single iteration is: </a:t>
                </a:r>
                <a:r>
                  <a:rPr lang="en-US" b="1" i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sz="2000" b="1" dirty="0"/>
                  <a:t>Time complexity: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</a:rPr>
                      <m:t>𝑶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IN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    </a:t>
                </a:r>
              </a:p>
              <a:p>
                <a:endParaRPr lang="en-US" dirty="0"/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Error Analysis:</a:t>
                </a:r>
              </a:p>
              <a:p>
                <a:r>
                  <a:rPr lang="en-US" sz="1900" b="1" dirty="0">
                    <a:solidFill>
                      <a:srgbClr val="00B050"/>
                    </a:solidFill>
                  </a:rPr>
                  <a:t>Theorem: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composite, the probability that any individual iteration finds a witness of compositeness is greater than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. </a:t>
                </a:r>
              </a:p>
              <a:p>
                <a:endParaRPr lang="en-IN" sz="2000" dirty="0"/>
              </a:p>
              <a:p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en-IN" sz="1900" b="1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m:rPr>
                        <m:nor/>
                      </m:rPr>
                      <a:rPr lang="en-US" sz="1900" b="1" dirty="0"/>
                      <m:t>	</m:t>
                    </m:r>
                    <m:r>
                      <m:rPr>
                        <m:nor/>
                      </m:rPr>
                      <a:rPr lang="en-IN" sz="1900" b="1" i="0" dirty="0" smtClean="0"/>
                      <m:t>P</m:t>
                    </m:r>
                    <m:r>
                      <m:rPr>
                        <m:nor/>
                      </m:rPr>
                      <a:rPr lang="en-IN" sz="1900" b="1" i="0" dirty="0" smtClean="0"/>
                      <m:t>(</m:t>
                    </m:r>
                    <m:r>
                      <m:rPr>
                        <m:nor/>
                      </m:rPr>
                      <a:rPr lang="en-IN" sz="1900" i="0" dirty="0" smtClean="0"/>
                      <m:t>no</m:t>
                    </m:r>
                    <m:r>
                      <m:rPr>
                        <m:nor/>
                      </m:rPr>
                      <a:rPr lang="en-IN" sz="1900" i="0" dirty="0" smtClean="0"/>
                      <m:t> </m:t>
                    </m:r>
                    <m:r>
                      <m:rPr>
                        <m:nor/>
                      </m:rPr>
                      <a:rPr lang="en-IN" sz="1900" i="0" dirty="0" smtClean="0"/>
                      <m:t>witness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is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found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for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70C0"/>
                        </a:solidFill>
                      </a:rPr>
                      <m:t>𝑛</m:t>
                    </m:r>
                    <m:r>
                      <m:rPr>
                        <m:nor/>
                      </m:rPr>
                      <a:rPr lang="en-IN" sz="1900" b="0" i="0" dirty="0" smtClean="0"/>
                      <m:t>′</m:t>
                    </m:r>
                    <m:r>
                      <m:rPr>
                        <m:nor/>
                      </m:rPr>
                      <a:rPr lang="en-IN" sz="1900" b="0" i="0" dirty="0" smtClean="0"/>
                      <m:t>s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compositeness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in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any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of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the</m:t>
                    </m:r>
                    <m:r>
                      <m:rPr>
                        <m:nor/>
                      </m:rPr>
                      <a:rPr lang="en-IN" sz="1900" b="0" i="0" dirty="0" smtClean="0"/>
                      <m:t> </m:t>
                    </m:r>
                    <m:r>
                      <a:rPr lang="en-US" sz="1900" i="1">
                        <a:latin typeface="Cambria Math"/>
                      </a:rPr>
                      <m:t>𝑘</m:t>
                    </m:r>
                    <m:r>
                      <m:rPr>
                        <m:nor/>
                      </m:rPr>
                      <a:rPr lang="en-IN" sz="1900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IN" sz="1900" b="0" i="0" dirty="0" smtClean="0"/>
                      <m:t>iterations</m:t>
                    </m:r>
                    <m:r>
                      <m:rPr>
                        <m:nor/>
                      </m:rPr>
                      <a:rPr lang="en-IN" sz="1900" b="0" i="0" dirty="0" smtClean="0"/>
                      <m:t>)</m:t>
                    </m:r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/>
                      </a:rPr>
                      <m:t>≤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US" sz="19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9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9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19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19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IN" sz="1900" dirty="0"/>
              </a:p>
              <a:p>
                <a:endParaRPr lang="en-IN" sz="2000" dirty="0"/>
              </a:p>
              <a:p>
                <a:r>
                  <a:rPr lang="en-US" sz="2000" b="1" dirty="0"/>
                  <a:t>Error probability: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≤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IN" sz="2000" dirty="0"/>
              </a:p>
              <a:p>
                <a:endParaRPr lang="en-IN" sz="2000" dirty="0"/>
              </a:p>
              <a:p>
                <a:r>
                  <a:rPr lang="en-US" sz="2000" b="1" dirty="0">
                    <a:solidFill>
                      <a:srgbClr val="00B050"/>
                    </a:solidFill>
                  </a:rPr>
                  <a:t>Theorem: </a:t>
                </a:r>
                <a:r>
                  <a:rPr lang="en-US" sz="2000" dirty="0"/>
                  <a:t>There exists a randomized Monte Carlo algorithm which determines whether 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B050"/>
                    </a:solidFill>
                  </a:rPr>
                  <a:t>bit</a:t>
                </a:r>
                <a:r>
                  <a:rPr lang="en-US" sz="2000" dirty="0"/>
                  <a:t> integer is prime or not  in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</a:rPr>
                      <m:t>𝑶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  <m:r>
                          <a:rPr lang="en-I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000" dirty="0"/>
                  <a:t>time accurately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&gt;1−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IN" sz="2000" dirty="0"/>
              </a:p>
              <a:p>
                <a:endParaRPr lang="en-IN" sz="2000" dirty="0"/>
              </a:p>
              <a:p>
                <a:endParaRPr lang="en-US" sz="2000" dirty="0"/>
              </a:p>
              <a:p>
                <a:endParaRPr lang="en-US" sz="2000" b="1" dirty="0">
                  <a:solidFill>
                    <a:srgbClr val="00B050"/>
                  </a:solidFill>
                </a:endParaRPr>
              </a:p>
              <a:p>
                <a:endParaRPr lang="en-US" sz="1900" b="1" dirty="0">
                  <a:solidFill>
                    <a:srgbClr val="00B050"/>
                  </a:solidFill>
                </a:endParaRPr>
              </a:p>
              <a:p>
                <a:endParaRPr lang="en-US" sz="2000" b="1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:endParaRPr lang="en-US" sz="1900" dirty="0"/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  <a:p>
                <a:endParaRPr lang="en-US" sz="1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B8CB12-BB05-CDA4-4EB9-7DAA35656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799044"/>
                <a:ext cx="8763000" cy="8854540"/>
              </a:xfrm>
              <a:prstGeom prst="rect">
                <a:avLst/>
              </a:prstGeom>
              <a:blipFill>
                <a:blip r:embed="rId2"/>
                <a:stretch>
                  <a:fillRect l="-1739" t="-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08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869934-92F2-9ECB-85EF-071B220E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6503DD-9293-AF6B-301D-7F0B2749D888}"/>
              </a:ext>
            </a:extLst>
          </p:cNvPr>
          <p:cNvSpPr txBox="1">
            <a:spLocks/>
          </p:cNvSpPr>
          <p:nvPr/>
        </p:nvSpPr>
        <p:spPr>
          <a:xfrm>
            <a:off x="304800" y="136525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Experimental Results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   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93A53-2C63-E8C0-582B-DC3178A3A660}"/>
              </a:ext>
            </a:extLst>
          </p:cNvPr>
          <p:cNvSpPr txBox="1"/>
          <p:nvPr/>
        </p:nvSpPr>
        <p:spPr>
          <a:xfrm>
            <a:off x="96982" y="750356"/>
            <a:ext cx="8763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rgbClr val="00B050"/>
                </a:solidFill>
              </a:rPr>
              <a:t>Comparison between various primality testing algorithms:</a:t>
            </a:r>
          </a:p>
          <a:p>
            <a:r>
              <a:rPr lang="en-US" dirty="0"/>
              <a:t>We compared different algorithms for primality testing and plotted their execution time for different </a:t>
            </a:r>
            <a:r>
              <a:rPr lang="en-US" dirty="0">
                <a:solidFill>
                  <a:srgbClr val="7030A0"/>
                </a:solidFill>
              </a:rPr>
              <a:t>primes</a:t>
            </a:r>
            <a:r>
              <a:rPr lang="en-US" dirty="0"/>
              <a:t> </a:t>
            </a:r>
            <a:r>
              <a:rPr lang="en-US" dirty="0" err="1"/>
              <a:t>upto</a:t>
            </a:r>
            <a:r>
              <a:rPr lang="en-US" dirty="0"/>
              <a:t> </a:t>
            </a:r>
            <a:r>
              <a:rPr lang="en-US" b="1" dirty="0"/>
              <a:t>300 digits</a:t>
            </a:r>
            <a:r>
              <a:rPr lang="en-US" dirty="0"/>
              <a:t>.</a:t>
            </a:r>
          </a:p>
          <a:p>
            <a:endParaRPr lang="en-US" sz="1900" dirty="0">
              <a:solidFill>
                <a:srgbClr val="0070C0"/>
              </a:solidFill>
            </a:endParaRPr>
          </a:p>
          <a:p>
            <a:endParaRPr lang="en-US" sz="1800" dirty="0">
              <a:solidFill>
                <a:srgbClr val="0070C0"/>
              </a:solidFill>
            </a:endParaRPr>
          </a:p>
          <a:p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91009-CB08-5C36-317A-26E8DEEC0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18" y="1665991"/>
            <a:ext cx="7128164" cy="36563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8E1C3A-BB33-627A-E2AF-A988957E28C5}"/>
                  </a:ext>
                </a:extLst>
              </p:cNvPr>
              <p:cNvSpPr txBox="1"/>
              <p:nvPr/>
            </p:nvSpPr>
            <p:spPr>
              <a:xfrm>
                <a:off x="-34636" y="5507479"/>
                <a:ext cx="93518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 we can observe, the </a:t>
                </a:r>
                <a:r>
                  <a:rPr lang="en-US" dirty="0">
                    <a:solidFill>
                      <a:srgbClr val="00B050"/>
                    </a:solidFill>
                  </a:rPr>
                  <a:t>trial division </a:t>
                </a:r>
                <a:r>
                  <a:rPr lang="en-US" dirty="0"/>
                  <a:t>shows a dramatic increases in time as </a:t>
                </a:r>
                <a14:m>
                  <m:oMath xmlns:m="http://schemas.openxmlformats.org/officeDocument/2006/math">
                    <m:r>
                      <a:rPr lang="en-IN" sz="1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 and becomes unfeasible after 18 digits. </a:t>
                </a:r>
              </a:p>
              <a:p>
                <a:r>
                  <a:rPr lang="en-US" dirty="0"/>
                  <a:t>However,</a:t>
                </a:r>
                <a:r>
                  <a:rPr lang="en-US" dirty="0">
                    <a:solidFill>
                      <a:srgbClr val="0070C0"/>
                    </a:solidFill>
                  </a:rPr>
                  <a:t> Miller-Rabin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AKS algorithm</a:t>
                </a:r>
                <a:r>
                  <a:rPr lang="en-US" dirty="0"/>
                  <a:t> shows moderate time increases as input size increases,</a:t>
                </a:r>
              </a:p>
              <a:p>
                <a:r>
                  <a:rPr lang="en-US" dirty="0"/>
                  <a:t>with </a:t>
                </a:r>
                <a:r>
                  <a:rPr lang="en-US" dirty="0">
                    <a:solidFill>
                      <a:srgbClr val="0070C0"/>
                    </a:solidFill>
                  </a:rPr>
                  <a:t>Miller-Rabin</a:t>
                </a:r>
                <a:r>
                  <a:rPr lang="en-US" dirty="0"/>
                  <a:t> taking less execution time as compared to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AKS algorithm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8E1C3A-BB33-627A-E2AF-A988957E2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636" y="5507479"/>
                <a:ext cx="9351818" cy="1200329"/>
              </a:xfrm>
              <a:prstGeom prst="rect">
                <a:avLst/>
              </a:prstGeom>
              <a:blipFill>
                <a:blip r:embed="rId3"/>
                <a:stretch>
                  <a:fillRect l="-522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30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C9D32F-75A4-6026-EF8B-7CB93594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Title 23">
            <a:extLst>
              <a:ext uri="{FF2B5EF4-FFF2-40B4-BE49-F238E27FC236}">
                <a16:creationId xmlns:a16="http://schemas.microsoft.com/office/drawing/2014/main" id="{0EB6A30A-CFF0-90BA-16F8-37AC15FAE423}"/>
              </a:ext>
            </a:extLst>
          </p:cNvPr>
          <p:cNvSpPr txBox="1">
            <a:spLocks/>
          </p:cNvSpPr>
          <p:nvPr/>
        </p:nvSpPr>
        <p:spPr>
          <a:xfrm>
            <a:off x="1600200" y="914400"/>
            <a:ext cx="5625065" cy="1783378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US" sz="8000" dirty="0">
              <a:solidFill>
                <a:srgbClr val="7030A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0217BD5-AD90-4652-589A-F7D78B7FA9DE}"/>
              </a:ext>
            </a:extLst>
          </p:cNvPr>
          <p:cNvSpPr txBox="1">
            <a:spLocks/>
          </p:cNvSpPr>
          <p:nvPr/>
        </p:nvSpPr>
        <p:spPr>
          <a:xfrm>
            <a:off x="723900" y="3360123"/>
            <a:ext cx="7696200" cy="1600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>
              <a:solidFill>
                <a:srgbClr val="C00000"/>
              </a:solidFill>
            </a:endParaRPr>
          </a:p>
          <a:p>
            <a:pPr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 Now we will present the demo of our</a:t>
            </a:r>
          </a:p>
          <a:p>
            <a:pPr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00B050"/>
                </a:solidFill>
              </a:rPr>
              <a:t>Multi-user RSA encryption application 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A7290-D4EB-B1C1-68BA-F9C66387986B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8382000" cy="1466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8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69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11224</TotalTime>
  <Words>2704</Words>
  <Application>Microsoft Office PowerPoint</Application>
  <PresentationFormat>On-screen Show (4:3)</PresentationFormat>
  <Paragraphs>361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Wingdings</vt:lpstr>
      <vt:lpstr>Office Theme</vt:lpstr>
      <vt:lpstr>PRIMALITY TESTING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raghav madan</cp:lastModifiedBy>
  <cp:revision>751</cp:revision>
  <dcterms:created xsi:type="dcterms:W3CDTF">2011-12-03T04:13:03Z</dcterms:created>
  <dcterms:modified xsi:type="dcterms:W3CDTF">2025-04-11T17:20:02Z</dcterms:modified>
</cp:coreProperties>
</file>